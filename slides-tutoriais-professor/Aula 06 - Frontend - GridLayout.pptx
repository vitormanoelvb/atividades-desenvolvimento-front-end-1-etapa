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308" r:id="rId2"/>
    <p:sldId id="258" r:id="rId3"/>
    <p:sldId id="259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310" r:id="rId22"/>
    <p:sldId id="280" r:id="rId23"/>
    <p:sldId id="309" r:id="rId24"/>
    <p:sldId id="281" r:id="rId25"/>
    <p:sldId id="282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D2D9E1"/>
    <a:srgbClr val="282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82" autoAdjust="0"/>
  </p:normalViewPr>
  <p:slideViewPr>
    <p:cSldViewPr snapToGrid="0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9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19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746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91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75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5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20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78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06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56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039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2057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300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0924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23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7805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58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01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B8D14-9CF0-4CE6-923D-042B3EFC6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6000" dirty="0"/>
              <a:t>Grid Layout e Semântica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DB2CD9-B22A-4D92-9A89-56B5477B5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4000"/>
              <a:t>AULA </a:t>
            </a:r>
            <a:r>
              <a:rPr lang="pt-BR" sz="4000" smtClean="0"/>
              <a:t>06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392879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2664690" y="683491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Nosso HTML inicial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F6DA13-F7F9-4D92-8BB1-E73421A29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3" y="1970736"/>
            <a:ext cx="11779254" cy="415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84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 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&lt;header&gt; 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utilizado para representar o cabeçalho de um documento ou seção declarado no HTML. Nele podemos inserir elementos de &lt;h1&gt; a &lt;h6&gt;, até elementos para representar imagens, parágrafos ou mesmo listas de navegação.</a:t>
            </a:r>
          </a:p>
        </p:txBody>
      </p:sp>
    </p:spTree>
    <p:extLst>
      <p:ext uri="{BB962C8B-B14F-4D97-AF65-F5344CB8AC3E}">
        <p14:creationId xmlns:p14="http://schemas.microsoft.com/office/powerpoint/2010/main" val="123627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&lt;header&gt;: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2DE0ED-667F-4C27-B00A-11651FA2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145" y="3017165"/>
            <a:ext cx="8126264" cy="264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8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elemento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&lt;section&gt;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representa uma seção dentro de um documento e geralmente contém um título, o qual é definido por meio de um dos elementos entre &lt;h1&gt; e &lt;h6&gt;. Podemos utilizar 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&lt;section&gt;,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exemplo, para descrever as seções/tópicos de um documento.</a:t>
            </a:r>
          </a:p>
        </p:txBody>
      </p:sp>
    </p:spTree>
    <p:extLst>
      <p:ext uri="{BB962C8B-B14F-4D97-AF65-F5344CB8AC3E}">
        <p14:creationId xmlns:p14="http://schemas.microsoft.com/office/powerpoint/2010/main" val="59865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&lt;section&gt;: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17B7AFC-E674-4B13-BF8E-762FE557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91" y="3429000"/>
            <a:ext cx="11414015" cy="182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6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Utilizamos o elemento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&lt;article&gt;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quando precisamos declarar um conteúdo que não precisa de outro para fazer sentido em um documento HTML, por exemplo, um artigo em um blog. É recomendado identificar cada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&lt;article&gt;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 um título.</a:t>
            </a:r>
          </a:p>
        </p:txBody>
      </p:sp>
    </p:spTree>
    <p:extLst>
      <p:ext uri="{BB962C8B-B14F-4D97-AF65-F5344CB8AC3E}">
        <p14:creationId xmlns:p14="http://schemas.microsoft.com/office/powerpoint/2010/main" val="310582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&lt;article&gt;: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740674-6B1D-4DEC-B68B-73550D969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38" y="3068501"/>
            <a:ext cx="11747124" cy="286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38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elemento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35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nav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utilizado quando precisamos representar um agrupamento de links de navegação, que, por sua vez, são criados com os elementos &lt;</a:t>
            </a:r>
            <a:r>
              <a:rPr lang="pt-BR" sz="3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&gt;, &lt;li&gt; e &lt;a&gt;.</a:t>
            </a:r>
          </a:p>
        </p:txBody>
      </p:sp>
    </p:spTree>
    <p:extLst>
      <p:ext uri="{BB962C8B-B14F-4D97-AF65-F5344CB8AC3E}">
        <p14:creationId xmlns:p14="http://schemas.microsoft.com/office/powerpoint/2010/main" val="1759820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80A2C3A-911A-44D3-B8AB-F20BB720D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27" y="2776446"/>
            <a:ext cx="6583745" cy="366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07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aside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elemento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35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aside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utilizado quando precisamos criar um conteúdo de apoio/adicional ao conteúdo principal. Por exemplo, ao falar de HTML semântico, podemos indicar ao leitor outros conteúdos sobre a linguagem HTML como sugestão de leitura complementar.</a:t>
            </a:r>
          </a:p>
        </p:txBody>
      </p:sp>
    </p:spTree>
    <p:extLst>
      <p:ext uri="{BB962C8B-B14F-4D97-AF65-F5344CB8AC3E}">
        <p14:creationId xmlns:p14="http://schemas.microsoft.com/office/powerpoint/2010/main" val="96436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aside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F8E0D2-EC69-4ACF-8A75-872F73463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541" y="2574388"/>
            <a:ext cx="4844917" cy="400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47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elemento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&lt;main&gt;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especifica o conteúdo principal e, consequentemente, de maior relevância dentro da página. Para ser considerada bem construída, uma página deve apresentar apenas um conteúdo principal.</a:t>
            </a:r>
          </a:p>
        </p:txBody>
      </p:sp>
    </p:spTree>
    <p:extLst>
      <p:ext uri="{BB962C8B-B14F-4D97-AF65-F5344CB8AC3E}">
        <p14:creationId xmlns:p14="http://schemas.microsoft.com/office/powerpoint/2010/main" val="3550401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&lt;main&gt;: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D0400B5-11AF-432E-8F69-F142CEA7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89" y="2748871"/>
            <a:ext cx="11772421" cy="373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52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elemento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&lt;figure&gt;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uma marcação de uso específico para a inserção de uma figura. Para incluir a descrição dessa figura, podemos utilizar o elemento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35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figcaption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val="3584852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&lt;figure&gt;: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57F845-D885-4859-A25F-C54947F39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48" y="3529437"/>
            <a:ext cx="11337304" cy="160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40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&lt;figure&gt; com &lt;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figcaption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D62E34C-9FEB-4F09-BA05-96459378D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71" y="3228180"/>
            <a:ext cx="11709258" cy="245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2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elemento 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&lt;footer&gt;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representa um rodapé de um documento, como a área presente no final de uma página web. Normalmente é utilizado para descrever informações de autoria, como nome e contato do autor, e data de criação do conteúdo.</a:t>
            </a:r>
            <a:endParaRPr lang="pt-BR" sz="3500" b="0" i="0" dirty="0"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166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uso de &lt;footer&gt;: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8237F0-058F-4573-A20B-7C0B7652D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79" y="3017165"/>
            <a:ext cx="10353041" cy="306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01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729673"/>
            <a:ext cx="10317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falar de elementos semânticos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AD37F-AEFC-47D4-9B04-48DB74706726}"/>
              </a:ext>
            </a:extLst>
          </p:cNvPr>
          <p:cNvSpPr txBox="1"/>
          <p:nvPr/>
        </p:nvSpPr>
        <p:spPr>
          <a:xfrm>
            <a:off x="633046" y="1927280"/>
            <a:ext cx="109024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prático</a:t>
            </a:r>
          </a:p>
          <a:p>
            <a:pPr algn="just"/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Crie um arquivo HTML conforme a página do próximo slide:</a:t>
            </a:r>
            <a:endParaRPr lang="pt-BR" sz="3500" b="0" i="0" dirty="0"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507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465B46-337D-4695-86E9-282A026C4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31" y="263297"/>
            <a:ext cx="9529937" cy="633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92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465B46-337D-4695-86E9-282A026C4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31" y="263297"/>
            <a:ext cx="9529937" cy="633140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909F7C1-451E-406B-8190-DF18EF353B68}"/>
              </a:ext>
            </a:extLst>
          </p:cNvPr>
          <p:cNvSpPr/>
          <p:nvPr/>
        </p:nvSpPr>
        <p:spPr>
          <a:xfrm>
            <a:off x="1083212" y="927652"/>
            <a:ext cx="5768161" cy="5667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1B0C13-3C42-4178-B92E-D2AF5349C706}"/>
              </a:ext>
            </a:extLst>
          </p:cNvPr>
          <p:cNvSpPr txBox="1"/>
          <p:nvPr/>
        </p:nvSpPr>
        <p:spPr>
          <a:xfrm>
            <a:off x="5300870" y="974036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9D79D9-FAF1-48F4-A79C-3D0BCD93AC1A}"/>
              </a:ext>
            </a:extLst>
          </p:cNvPr>
          <p:cNvSpPr txBox="1"/>
          <p:nvPr/>
        </p:nvSpPr>
        <p:spPr>
          <a:xfrm>
            <a:off x="1928192" y="1528034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F11D6C6-D03F-4F59-990B-AEEBD9124FC6}"/>
              </a:ext>
            </a:extLst>
          </p:cNvPr>
          <p:cNvSpPr txBox="1"/>
          <p:nvPr/>
        </p:nvSpPr>
        <p:spPr>
          <a:xfrm>
            <a:off x="1928192" y="3893547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76032F-0F2D-483A-8274-EC8C2EE1F3F2}"/>
              </a:ext>
            </a:extLst>
          </p:cNvPr>
          <p:cNvSpPr txBox="1"/>
          <p:nvPr/>
        </p:nvSpPr>
        <p:spPr>
          <a:xfrm>
            <a:off x="3879429" y="2003249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32D06E-7771-4DD3-A0FB-B11BA767564C}"/>
              </a:ext>
            </a:extLst>
          </p:cNvPr>
          <p:cNvSpPr txBox="1"/>
          <p:nvPr/>
        </p:nvSpPr>
        <p:spPr>
          <a:xfrm>
            <a:off x="2888136" y="2943720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D77480F-CCDB-4223-A514-6EDC8EF808CF}"/>
              </a:ext>
            </a:extLst>
          </p:cNvPr>
          <p:cNvSpPr txBox="1"/>
          <p:nvPr/>
        </p:nvSpPr>
        <p:spPr>
          <a:xfrm>
            <a:off x="3282791" y="4298975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55A94F-9ED9-40B6-B5F6-44CF1E9E4816}"/>
              </a:ext>
            </a:extLst>
          </p:cNvPr>
          <p:cNvSpPr txBox="1"/>
          <p:nvPr/>
        </p:nvSpPr>
        <p:spPr>
          <a:xfrm>
            <a:off x="2685349" y="5329966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E6DAA8B-9F27-42EA-9D38-061B7678D48A}"/>
              </a:ext>
            </a:extLst>
          </p:cNvPr>
          <p:cNvSpPr txBox="1"/>
          <p:nvPr/>
        </p:nvSpPr>
        <p:spPr>
          <a:xfrm>
            <a:off x="6022865" y="2398644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1C097E5-CBF3-4CD1-A2FA-33380BF58B88}"/>
              </a:ext>
            </a:extLst>
          </p:cNvPr>
          <p:cNvSpPr txBox="1"/>
          <p:nvPr/>
        </p:nvSpPr>
        <p:spPr>
          <a:xfrm>
            <a:off x="5577208" y="3230371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01AC59-2927-4256-91B9-03EFA22ADB4D}"/>
              </a:ext>
            </a:extLst>
          </p:cNvPr>
          <p:cNvSpPr txBox="1"/>
          <p:nvPr/>
        </p:nvSpPr>
        <p:spPr>
          <a:xfrm>
            <a:off x="4637390" y="4760123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447AAB-EEA5-47CC-A2AD-19A27BE4C964}"/>
              </a:ext>
            </a:extLst>
          </p:cNvPr>
          <p:cNvSpPr txBox="1"/>
          <p:nvPr/>
        </p:nvSpPr>
        <p:spPr>
          <a:xfrm>
            <a:off x="5791104" y="5653349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F746B7E-633D-4161-B840-0928C3229242}"/>
              </a:ext>
            </a:extLst>
          </p:cNvPr>
          <p:cNvSpPr txBox="1"/>
          <p:nvPr/>
        </p:nvSpPr>
        <p:spPr>
          <a:xfrm>
            <a:off x="5278889" y="6087088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099079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465B46-337D-4695-86E9-282A026C4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31" y="263297"/>
            <a:ext cx="9529937" cy="633140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909F7C1-451E-406B-8190-DF18EF353B68}"/>
              </a:ext>
            </a:extLst>
          </p:cNvPr>
          <p:cNvSpPr/>
          <p:nvPr/>
        </p:nvSpPr>
        <p:spPr>
          <a:xfrm>
            <a:off x="1083212" y="927652"/>
            <a:ext cx="5768161" cy="59303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1B0C13-3C42-4178-B92E-D2AF5349C706}"/>
              </a:ext>
            </a:extLst>
          </p:cNvPr>
          <p:cNvSpPr txBox="1"/>
          <p:nvPr/>
        </p:nvSpPr>
        <p:spPr>
          <a:xfrm>
            <a:off x="5300870" y="974036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E9D79D9-FAF1-48F4-A79C-3D0BCD93AC1A}"/>
              </a:ext>
            </a:extLst>
          </p:cNvPr>
          <p:cNvSpPr txBox="1"/>
          <p:nvPr/>
        </p:nvSpPr>
        <p:spPr>
          <a:xfrm>
            <a:off x="1928192" y="1528034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F11D6C6-D03F-4F59-990B-AEEBD9124FC6}"/>
              </a:ext>
            </a:extLst>
          </p:cNvPr>
          <p:cNvSpPr txBox="1"/>
          <p:nvPr/>
        </p:nvSpPr>
        <p:spPr>
          <a:xfrm>
            <a:off x="1928192" y="3893547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76032F-0F2D-483A-8274-EC8C2EE1F3F2}"/>
              </a:ext>
            </a:extLst>
          </p:cNvPr>
          <p:cNvSpPr txBox="1"/>
          <p:nvPr/>
        </p:nvSpPr>
        <p:spPr>
          <a:xfrm>
            <a:off x="3879429" y="2003249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32D06E-7771-4DD3-A0FB-B11BA767564C}"/>
              </a:ext>
            </a:extLst>
          </p:cNvPr>
          <p:cNvSpPr txBox="1"/>
          <p:nvPr/>
        </p:nvSpPr>
        <p:spPr>
          <a:xfrm>
            <a:off x="2888136" y="2943720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D77480F-CCDB-4223-A514-6EDC8EF808CF}"/>
              </a:ext>
            </a:extLst>
          </p:cNvPr>
          <p:cNvSpPr txBox="1"/>
          <p:nvPr/>
        </p:nvSpPr>
        <p:spPr>
          <a:xfrm>
            <a:off x="3282791" y="4298975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55A94F-9ED9-40B6-B5F6-44CF1E9E4816}"/>
              </a:ext>
            </a:extLst>
          </p:cNvPr>
          <p:cNvSpPr txBox="1"/>
          <p:nvPr/>
        </p:nvSpPr>
        <p:spPr>
          <a:xfrm>
            <a:off x="2685349" y="5329966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h3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E6DAA8B-9F27-42EA-9D38-061B7678D48A}"/>
              </a:ext>
            </a:extLst>
          </p:cNvPr>
          <p:cNvSpPr txBox="1"/>
          <p:nvPr/>
        </p:nvSpPr>
        <p:spPr>
          <a:xfrm>
            <a:off x="6022865" y="2398644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1C097E5-CBF3-4CD1-A2FA-33380BF58B88}"/>
              </a:ext>
            </a:extLst>
          </p:cNvPr>
          <p:cNvSpPr txBox="1"/>
          <p:nvPr/>
        </p:nvSpPr>
        <p:spPr>
          <a:xfrm>
            <a:off x="5577208" y="3230371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01AC59-2927-4256-91B9-03EFA22ADB4D}"/>
              </a:ext>
            </a:extLst>
          </p:cNvPr>
          <p:cNvSpPr txBox="1"/>
          <p:nvPr/>
        </p:nvSpPr>
        <p:spPr>
          <a:xfrm>
            <a:off x="4637390" y="4760123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447AAB-EEA5-47CC-A2AD-19A27BE4C964}"/>
              </a:ext>
            </a:extLst>
          </p:cNvPr>
          <p:cNvSpPr txBox="1"/>
          <p:nvPr/>
        </p:nvSpPr>
        <p:spPr>
          <a:xfrm>
            <a:off x="5791104" y="5653349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F746B7E-633D-4161-B840-0928C3229242}"/>
              </a:ext>
            </a:extLst>
          </p:cNvPr>
          <p:cNvSpPr txBox="1"/>
          <p:nvPr/>
        </p:nvSpPr>
        <p:spPr>
          <a:xfrm>
            <a:off x="5278889" y="6087088"/>
            <a:ext cx="393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EDD6FE1-F6A8-4530-B2C5-5A5ED55FB167}"/>
              </a:ext>
            </a:extLst>
          </p:cNvPr>
          <p:cNvSpPr/>
          <p:nvPr/>
        </p:nvSpPr>
        <p:spPr>
          <a:xfrm>
            <a:off x="1235613" y="974036"/>
            <a:ext cx="5496492" cy="475348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020AFFA-DE2A-4B2E-B9D2-385B8358ABAF}"/>
              </a:ext>
            </a:extLst>
          </p:cNvPr>
          <p:cNvSpPr txBox="1"/>
          <p:nvPr/>
        </p:nvSpPr>
        <p:spPr>
          <a:xfrm>
            <a:off x="6910718" y="934711"/>
            <a:ext cx="131157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002060"/>
                </a:solidFill>
              </a:rPr>
              <a:t>header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ECB9ABF-AE41-4644-80F9-258E442FA8AB}"/>
              </a:ext>
            </a:extLst>
          </p:cNvPr>
          <p:cNvSpPr/>
          <p:nvPr/>
        </p:nvSpPr>
        <p:spPr>
          <a:xfrm>
            <a:off x="1219046" y="1511480"/>
            <a:ext cx="5496492" cy="4695867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4856BD0-5EC1-40F8-81EA-618611BE764A}"/>
              </a:ext>
            </a:extLst>
          </p:cNvPr>
          <p:cNvSpPr txBox="1"/>
          <p:nvPr/>
        </p:nvSpPr>
        <p:spPr>
          <a:xfrm>
            <a:off x="6879639" y="3317959"/>
            <a:ext cx="10342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002060"/>
                </a:solidFill>
              </a:rPr>
              <a:t>main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F037A63-F2CF-4083-B0FD-B9E38A280560}"/>
              </a:ext>
            </a:extLst>
          </p:cNvPr>
          <p:cNvSpPr txBox="1"/>
          <p:nvPr/>
        </p:nvSpPr>
        <p:spPr>
          <a:xfrm>
            <a:off x="103199" y="1071563"/>
            <a:ext cx="9919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FF0000"/>
                </a:solidFill>
              </a:rPr>
              <a:t>body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020225C-EF76-45A8-B798-304F3B0D6C8D}"/>
              </a:ext>
            </a:extLst>
          </p:cNvPr>
          <p:cNvSpPr/>
          <p:nvPr/>
        </p:nvSpPr>
        <p:spPr>
          <a:xfrm>
            <a:off x="1219046" y="6259060"/>
            <a:ext cx="5496492" cy="529319"/>
          </a:xfrm>
          <a:prstGeom prst="rect">
            <a:avLst/>
          </a:prstGeom>
          <a:solidFill>
            <a:srgbClr val="00B0F0">
              <a:alpha val="20000"/>
            </a:srgb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1D88670-DFD2-4A4C-91F6-9A00B9805883}"/>
              </a:ext>
            </a:extLst>
          </p:cNvPr>
          <p:cNvSpPr txBox="1"/>
          <p:nvPr/>
        </p:nvSpPr>
        <p:spPr>
          <a:xfrm>
            <a:off x="6834697" y="6087088"/>
            <a:ext cx="12025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 err="1">
                <a:solidFill>
                  <a:srgbClr val="002060"/>
                </a:solidFill>
              </a:rPr>
              <a:t>footer</a:t>
            </a:r>
            <a:endParaRPr lang="pt-BR" sz="3000" b="1" dirty="0">
              <a:solidFill>
                <a:srgbClr val="002060"/>
              </a:solidFill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633ABB5-C62C-47E7-9A1D-F9816FC47FB2}"/>
              </a:ext>
            </a:extLst>
          </p:cNvPr>
          <p:cNvSpPr/>
          <p:nvPr/>
        </p:nvSpPr>
        <p:spPr>
          <a:xfrm>
            <a:off x="1305186" y="1584368"/>
            <a:ext cx="5281144" cy="2282529"/>
          </a:xfrm>
          <a:prstGeom prst="rect">
            <a:avLst/>
          </a:prstGeom>
          <a:solidFill>
            <a:srgbClr val="92D050">
              <a:alpha val="20000"/>
            </a:srgbClr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648E659-8C45-4E7B-8875-291F95967453}"/>
              </a:ext>
            </a:extLst>
          </p:cNvPr>
          <p:cNvSpPr/>
          <p:nvPr/>
        </p:nvSpPr>
        <p:spPr>
          <a:xfrm>
            <a:off x="1313468" y="3933906"/>
            <a:ext cx="5281144" cy="2282529"/>
          </a:xfrm>
          <a:prstGeom prst="rect">
            <a:avLst/>
          </a:prstGeom>
          <a:solidFill>
            <a:srgbClr val="92D050">
              <a:alpha val="20000"/>
            </a:srgbClr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61D9E36-BA85-41C4-AB01-C63B8D48E48A}"/>
              </a:ext>
            </a:extLst>
          </p:cNvPr>
          <p:cNvSpPr txBox="1"/>
          <p:nvPr/>
        </p:nvSpPr>
        <p:spPr>
          <a:xfrm>
            <a:off x="6794619" y="1525746"/>
            <a:ext cx="13756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00B050"/>
                </a:solidFill>
              </a:rPr>
              <a:t>section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6C7C54B-69DC-470C-B756-9B8F59A985FB}"/>
              </a:ext>
            </a:extLst>
          </p:cNvPr>
          <p:cNvSpPr txBox="1"/>
          <p:nvPr/>
        </p:nvSpPr>
        <p:spPr>
          <a:xfrm>
            <a:off x="6827696" y="3859413"/>
            <a:ext cx="13756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00B050"/>
                </a:solidFill>
              </a:rPr>
              <a:t>section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7C0AE6A-9659-4D7B-AAFB-71FD41D4EAA0}"/>
              </a:ext>
            </a:extLst>
          </p:cNvPr>
          <p:cNvSpPr/>
          <p:nvPr/>
        </p:nvSpPr>
        <p:spPr>
          <a:xfrm>
            <a:off x="1367336" y="2098585"/>
            <a:ext cx="5061838" cy="788801"/>
          </a:xfrm>
          <a:prstGeom prst="rect">
            <a:avLst/>
          </a:prstGeom>
          <a:solidFill>
            <a:srgbClr val="7030A0">
              <a:alpha val="20000"/>
            </a:srgb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030A0"/>
              </a:solidFill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F000700-2071-4908-A7F4-DED25116DBCE}"/>
              </a:ext>
            </a:extLst>
          </p:cNvPr>
          <p:cNvSpPr/>
          <p:nvPr/>
        </p:nvSpPr>
        <p:spPr>
          <a:xfrm>
            <a:off x="1371446" y="3007202"/>
            <a:ext cx="5061838" cy="788801"/>
          </a:xfrm>
          <a:prstGeom prst="rect">
            <a:avLst/>
          </a:prstGeom>
          <a:solidFill>
            <a:srgbClr val="7030A0">
              <a:alpha val="20000"/>
            </a:srgb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030A0"/>
              </a:solidFill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8F9991B-FEBC-49B4-9076-A8DFD9D42C71}"/>
              </a:ext>
            </a:extLst>
          </p:cNvPr>
          <p:cNvSpPr/>
          <p:nvPr/>
        </p:nvSpPr>
        <p:spPr>
          <a:xfrm>
            <a:off x="1354084" y="4488849"/>
            <a:ext cx="5061838" cy="788801"/>
          </a:xfrm>
          <a:prstGeom prst="rect">
            <a:avLst/>
          </a:prstGeom>
          <a:solidFill>
            <a:srgbClr val="7030A0">
              <a:alpha val="20000"/>
            </a:srgb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030A0"/>
              </a:solidFill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6D5497D8-E46E-4E19-963D-B5B3B702A99C}"/>
              </a:ext>
            </a:extLst>
          </p:cNvPr>
          <p:cNvSpPr/>
          <p:nvPr/>
        </p:nvSpPr>
        <p:spPr>
          <a:xfrm>
            <a:off x="1362165" y="5372360"/>
            <a:ext cx="5061838" cy="788801"/>
          </a:xfrm>
          <a:prstGeom prst="rect">
            <a:avLst/>
          </a:prstGeom>
          <a:solidFill>
            <a:srgbClr val="7030A0">
              <a:alpha val="20000"/>
            </a:srgbClr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030A0"/>
              </a:solidFill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E220B53-7152-43A8-BC05-D3142A9935FE}"/>
              </a:ext>
            </a:extLst>
          </p:cNvPr>
          <p:cNvSpPr txBox="1"/>
          <p:nvPr/>
        </p:nvSpPr>
        <p:spPr>
          <a:xfrm>
            <a:off x="6834052" y="4501218"/>
            <a:ext cx="12529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7030A0"/>
                </a:solidFill>
              </a:rPr>
              <a:t>article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F65C82C-5488-41A7-BF0F-DBE6D3F38358}"/>
              </a:ext>
            </a:extLst>
          </p:cNvPr>
          <p:cNvSpPr txBox="1"/>
          <p:nvPr/>
        </p:nvSpPr>
        <p:spPr>
          <a:xfrm>
            <a:off x="6868936" y="5329966"/>
            <a:ext cx="12529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7030A0"/>
                </a:solidFill>
              </a:rPr>
              <a:t>article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AD7F430-6DBF-4D9A-AC9C-8AE7AC5D38BD}"/>
              </a:ext>
            </a:extLst>
          </p:cNvPr>
          <p:cNvSpPr txBox="1"/>
          <p:nvPr/>
        </p:nvSpPr>
        <p:spPr>
          <a:xfrm>
            <a:off x="6835913" y="2116781"/>
            <a:ext cx="12529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7030A0"/>
                </a:solidFill>
              </a:rPr>
              <a:t>article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7CB9850-D615-493C-99C9-14D4DAD881FA}"/>
              </a:ext>
            </a:extLst>
          </p:cNvPr>
          <p:cNvSpPr txBox="1"/>
          <p:nvPr/>
        </p:nvSpPr>
        <p:spPr>
          <a:xfrm>
            <a:off x="6835087" y="2872226"/>
            <a:ext cx="12529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rgbClr val="7030A0"/>
                </a:solidFill>
              </a:rPr>
              <a:t>article</a:t>
            </a:r>
          </a:p>
        </p:txBody>
      </p:sp>
    </p:spTree>
    <p:extLst>
      <p:ext uri="{BB962C8B-B14F-4D97-AF65-F5344CB8AC3E}">
        <p14:creationId xmlns:p14="http://schemas.microsoft.com/office/powerpoint/2010/main" val="621974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209168"/>
            <a:ext cx="10317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HTML do exemplo anterior (sem semântica)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0" y="1291056"/>
            <a:ext cx="9993330" cy="506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82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209168"/>
            <a:ext cx="10317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Atividade Prática: Aplique elementos semânticos!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0" y="1238374"/>
            <a:ext cx="10146979" cy="532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209168"/>
            <a:ext cx="10317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Atividade Prática: Aplique elementos semânticos!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53" y="1168297"/>
            <a:ext cx="9994091" cy="55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68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062B747-9CFB-4661-BB61-57569120A713}"/>
              </a:ext>
            </a:extLst>
          </p:cNvPr>
          <p:cNvSpPr/>
          <p:nvPr/>
        </p:nvSpPr>
        <p:spPr>
          <a:xfrm>
            <a:off x="1010350" y="2018716"/>
            <a:ext cx="10171298" cy="12520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BB751F-90EA-425C-B791-52A3D5CD5A80}"/>
              </a:ext>
            </a:extLst>
          </p:cNvPr>
          <p:cNvSpPr/>
          <p:nvPr/>
        </p:nvSpPr>
        <p:spPr>
          <a:xfrm>
            <a:off x="1010350" y="5725552"/>
            <a:ext cx="10171298" cy="5884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203A4FC-BC09-4E75-A4E0-BAE3CEF7F5D4}"/>
              </a:ext>
            </a:extLst>
          </p:cNvPr>
          <p:cNvSpPr/>
          <p:nvPr/>
        </p:nvSpPr>
        <p:spPr>
          <a:xfrm>
            <a:off x="1010350" y="3499340"/>
            <a:ext cx="2534708" cy="1969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80C7DB4-7829-4CFF-BCB7-FEACDE2095BB}"/>
              </a:ext>
            </a:extLst>
          </p:cNvPr>
          <p:cNvSpPr/>
          <p:nvPr/>
        </p:nvSpPr>
        <p:spPr>
          <a:xfrm>
            <a:off x="3793408" y="3513380"/>
            <a:ext cx="7388239" cy="1969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7AF8089-9102-4B05-9B94-4AEB74B2B261}"/>
              </a:ext>
            </a:extLst>
          </p:cNvPr>
          <p:cNvSpPr txBox="1"/>
          <p:nvPr/>
        </p:nvSpPr>
        <p:spPr>
          <a:xfrm>
            <a:off x="208669" y="1375088"/>
            <a:ext cx="11774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Como podemos representar de modo semântico este layout?</a:t>
            </a:r>
          </a:p>
        </p:txBody>
      </p:sp>
    </p:spTree>
    <p:extLst>
      <p:ext uri="{BB962C8B-B14F-4D97-AF65-F5344CB8AC3E}">
        <p14:creationId xmlns:p14="http://schemas.microsoft.com/office/powerpoint/2010/main" val="1856748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31084F-9595-4645-86A8-8CFEDB5A3F35}"/>
              </a:ext>
            </a:extLst>
          </p:cNvPr>
          <p:cNvSpPr txBox="1"/>
          <p:nvPr/>
        </p:nvSpPr>
        <p:spPr>
          <a:xfrm>
            <a:off x="1083212" y="2574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062B747-9CFB-4661-BB61-57569120A713}"/>
              </a:ext>
            </a:extLst>
          </p:cNvPr>
          <p:cNvSpPr/>
          <p:nvPr/>
        </p:nvSpPr>
        <p:spPr>
          <a:xfrm>
            <a:off x="1010350" y="2018716"/>
            <a:ext cx="10171298" cy="12520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pt-BR" sz="40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header</a:t>
            </a:r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&gt;Cabeçalho&lt;/</a:t>
            </a:r>
            <a:r>
              <a:rPr lang="pt-BR" sz="40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header</a:t>
            </a:r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pt-BR" sz="4000" dirty="0"/>
              <a:t>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BB751F-90EA-425C-B791-52A3D5CD5A80}"/>
              </a:ext>
            </a:extLst>
          </p:cNvPr>
          <p:cNvSpPr/>
          <p:nvPr/>
        </p:nvSpPr>
        <p:spPr>
          <a:xfrm>
            <a:off x="1010350" y="5725552"/>
            <a:ext cx="10171298" cy="5884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pt-BR" sz="40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footer</a:t>
            </a:r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&gt;Rodapé&lt;/</a:t>
            </a:r>
            <a:r>
              <a:rPr lang="pt-BR" sz="40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footer</a:t>
            </a:r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pt-BR" sz="4000" dirty="0"/>
              <a:t>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203A4FC-BC09-4E75-A4E0-BAE3CEF7F5D4}"/>
              </a:ext>
            </a:extLst>
          </p:cNvPr>
          <p:cNvSpPr/>
          <p:nvPr/>
        </p:nvSpPr>
        <p:spPr>
          <a:xfrm>
            <a:off x="1010350" y="3499340"/>
            <a:ext cx="2534708" cy="1969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 </a:t>
            </a:r>
            <a:r>
              <a:rPr lang="pt-BR" sz="28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pt-BR" sz="2800" b="0" i="0" dirty="0" err="1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aside</a:t>
            </a:r>
            <a:r>
              <a:rPr lang="pt-BR" sz="28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pPr algn="ctr"/>
            <a:r>
              <a:rPr lang="pt-BR" sz="28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Menu lateral</a:t>
            </a:r>
          </a:p>
          <a:p>
            <a:pPr algn="ctr"/>
            <a:r>
              <a:rPr lang="pt-BR" sz="28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&lt;/</a:t>
            </a:r>
            <a:r>
              <a:rPr lang="pt-BR" sz="2800" b="0" i="0" dirty="0" err="1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aside</a:t>
            </a:r>
            <a:r>
              <a:rPr lang="pt-BR" sz="28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</a:t>
            </a:r>
            <a:endParaRPr lang="pt-BR" sz="28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80C7DB4-7829-4CFF-BCB7-FEACDE2095BB}"/>
              </a:ext>
            </a:extLst>
          </p:cNvPr>
          <p:cNvSpPr/>
          <p:nvPr/>
        </p:nvSpPr>
        <p:spPr>
          <a:xfrm>
            <a:off x="3793408" y="3513380"/>
            <a:ext cx="7388239" cy="19695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pt-BR" sz="40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&gt;Conteúdo principal&lt;/</a:t>
            </a:r>
            <a:r>
              <a:rPr lang="pt-BR" sz="40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pt-BR" sz="4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pt-BR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7606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927280"/>
            <a:ext cx="109024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Até ai tudo bem, certo? Certo. Montar a estrutura das </a:t>
            </a:r>
            <a:r>
              <a:rPr lang="pt-BR" sz="3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tags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é a parte mais fácil... Porém, agora precisamos posiciona-las da seguinte maneira:</a:t>
            </a:r>
          </a:p>
          <a:p>
            <a:pPr algn="just"/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Header: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 cima da página</a:t>
            </a:r>
          </a:p>
          <a:p>
            <a:pPr algn="just"/>
            <a:r>
              <a:rPr lang="pt-BR" sz="35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Aside</a:t>
            </a:r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 parte esquerda da página</a:t>
            </a:r>
          </a:p>
          <a:p>
            <a:pPr algn="just"/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Main: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 parte direita da página</a:t>
            </a:r>
          </a:p>
          <a:p>
            <a:pPr algn="just"/>
            <a:r>
              <a:rPr lang="pt-BR" sz="35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Footer: </a:t>
            </a:r>
            <a:r>
              <a:rPr lang="pt-BR" sz="3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 baixo da página</a:t>
            </a:r>
          </a:p>
        </p:txBody>
      </p:sp>
    </p:spTree>
    <p:extLst>
      <p:ext uri="{BB962C8B-B14F-4D97-AF65-F5344CB8AC3E}">
        <p14:creationId xmlns:p14="http://schemas.microsoft.com/office/powerpoint/2010/main" val="2083389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927280"/>
            <a:ext cx="109024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Para você que já esta pensando nos códigos e está ansioso para começar a escrever seu .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acredito que deva estar imaginando diversas maneiras de chegar ao design que nosso amigo esta precisando:</a:t>
            </a:r>
          </a:p>
          <a:p>
            <a:pPr algn="just"/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Posso usar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flexbox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talvez eu use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se der na louca eu utilizo o position, etc...</a:t>
            </a:r>
          </a:p>
        </p:txBody>
      </p:sp>
    </p:spTree>
    <p:extLst>
      <p:ext uri="{BB962C8B-B14F-4D97-AF65-F5344CB8AC3E}">
        <p14:creationId xmlns:p14="http://schemas.microsoft.com/office/powerpoint/2010/main" val="3238655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927280"/>
            <a:ext cx="10902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Pois é, normalmente eu faria esse design com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flexbox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medindo o tamanho de cada elemento, adicionando um pouco de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 Mas, para esse post, iremos utilizar a nova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CSS chamada "CSS Grid Layout".</a:t>
            </a:r>
          </a:p>
        </p:txBody>
      </p:sp>
    </p:spTree>
    <p:extLst>
      <p:ext uri="{BB962C8B-B14F-4D97-AF65-F5344CB8AC3E}">
        <p14:creationId xmlns:p14="http://schemas.microsoft.com/office/powerpoint/2010/main" val="3265778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Conhecendo o CSS Grid Layout</a:t>
            </a:r>
          </a:p>
          <a:p>
            <a:pPr algn="just"/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Como criar layouts era uma tarefa comum no dia-a-dia e às vezes um tanto quanto chata de se implementar, a galera pensou: "Será que não seria possível melhorar esse processo, deixando mais rápido e eficiente?", foi nesse contexto que criou-se a nova funcionalidade chamada de CSS Grid Layout.</a:t>
            </a:r>
          </a:p>
        </p:txBody>
      </p:sp>
    </p:spTree>
    <p:extLst>
      <p:ext uri="{BB962C8B-B14F-4D97-AF65-F5344CB8AC3E}">
        <p14:creationId xmlns:p14="http://schemas.microsoft.com/office/powerpoint/2010/main" val="3503474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627CFF-93F6-4979-AF56-E826A3B8AEB0}"/>
              </a:ext>
            </a:extLst>
          </p:cNvPr>
          <p:cNvSpPr/>
          <p:nvPr/>
        </p:nvSpPr>
        <p:spPr>
          <a:xfrm>
            <a:off x="365760" y="3868615"/>
            <a:ext cx="11437034" cy="270763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header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3600" b="0" i="0" dirty="0">
                <a:solidFill>
                  <a:srgbClr val="986801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3600" b="0" i="0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"o-header"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&gt;Header&lt;/</a:t>
            </a:r>
            <a:r>
              <a:rPr lang="en-US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header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 &lt;</a:t>
            </a:r>
            <a:r>
              <a:rPr lang="en-US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aside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3600" b="0" i="0" dirty="0">
                <a:solidFill>
                  <a:srgbClr val="986801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3600" b="0" i="0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"o-aside"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&gt;Aside&lt;/</a:t>
            </a:r>
            <a:r>
              <a:rPr lang="en-US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aside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 &lt;</a:t>
            </a:r>
            <a:r>
              <a:rPr lang="en-US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3600" b="0" i="0" dirty="0">
                <a:solidFill>
                  <a:srgbClr val="986801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3600" b="0" i="0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"o-main"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&gt;Main&lt;/</a:t>
            </a:r>
            <a:r>
              <a:rPr lang="en-US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footer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3600" b="0" i="0" dirty="0">
                <a:solidFill>
                  <a:srgbClr val="986801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3600" b="0" i="0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"o-footer"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&gt;Footer&lt;/</a:t>
            </a:r>
            <a:r>
              <a:rPr lang="en-US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footer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&gt;</a:t>
            </a:r>
            <a:endParaRPr lang="pt-BR" sz="3600" b="0" i="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Começando com nosso código</a:t>
            </a:r>
          </a:p>
          <a:p>
            <a:pPr algn="just"/>
            <a:endParaRPr lang="pt-BR" sz="3600" b="0" i="0" dirty="0"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8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 mais delongas, vamos começar a codificar e pôr em prática tudo isso. A primeira parte será definir o HTML da página:</a:t>
            </a:r>
          </a:p>
        </p:txBody>
      </p:sp>
    </p:spTree>
    <p:extLst>
      <p:ext uri="{BB962C8B-B14F-4D97-AF65-F5344CB8AC3E}">
        <p14:creationId xmlns:p14="http://schemas.microsoft.com/office/powerpoint/2010/main" val="3637767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627CFF-93F6-4979-AF56-E826A3B8AEB0}"/>
              </a:ext>
            </a:extLst>
          </p:cNvPr>
          <p:cNvSpPr/>
          <p:nvPr/>
        </p:nvSpPr>
        <p:spPr>
          <a:xfrm>
            <a:off x="365760" y="3868615"/>
            <a:ext cx="11437034" cy="270763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body {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 display: grid;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}</a:t>
            </a:r>
            <a:endParaRPr lang="pt-BR" sz="3600" b="0" i="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Nosso primeiro passo será definir qual </a:t>
            </a:r>
            <a:r>
              <a:rPr lang="pt-BR" sz="32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32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vai receber as "lacunas" para posteriormente adicionarmos nossos elementos. Bom, se tudo esta dentro de body, temos um bom candidato: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016142-E8A2-4664-8C70-56D1EDDE4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Nosso primeiro passo será definir qual </a:t>
            </a:r>
            <a:r>
              <a:rPr kumimoji="0" lang="pt-BR" altLang="pt-BR" sz="1300" b="0" i="0" u="none" strike="noStrike" cap="none" normalizeH="0" baseline="0" dirty="0" err="1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tag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 vai receber as "lacunas" para posteriormente adicionarmos nossos elementos. Bom, se tudo esta dentro de 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, temos um bom candidato: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50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44768" y="2236767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Vejam que o display ganhou um novo valor chamado grid. Com isso estamos dizendo: "Olha, navegador, a </a:t>
            </a:r>
            <a:r>
              <a:rPr lang="pt-BR" sz="36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36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body vai receber um grid, assim posso informar onde cada </a:t>
            </a:r>
            <a:r>
              <a:rPr lang="pt-BR" sz="36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36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vai ficar". Mas, afinal, onde estamos dizendo e informando o posicionamento de cada </a:t>
            </a:r>
            <a:r>
              <a:rPr lang="pt-BR" sz="36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36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016142-E8A2-4664-8C70-56D1EDDE4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Nosso primeiro passo será definir qual </a:t>
            </a:r>
            <a:r>
              <a:rPr kumimoji="0" lang="pt-BR" altLang="pt-BR" sz="1300" b="0" i="0" u="none" strike="noStrike" cap="none" normalizeH="0" baseline="0" dirty="0" err="1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tag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 vai receber as "lacunas" para posteriormente adicionarmos nossos elementos. Bom, se tudo esta dentro de 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, temos um bom candidato: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7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Posicionando nossas </a:t>
            </a:r>
            <a:r>
              <a:rPr lang="pt-BR" sz="3600" b="0" i="0" dirty="0" err="1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tags</a:t>
            </a:r>
            <a:endParaRPr lang="pt-BR" sz="3600" b="0" i="0" dirty="0">
              <a:solidFill>
                <a:srgbClr val="FFFF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Para posicionar nossas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tags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devemos praticamente "desenhar" no CSS, onde elas estarão:</a:t>
            </a:r>
          </a:p>
        </p:txBody>
      </p:sp>
    </p:spTree>
    <p:extLst>
      <p:ext uri="{BB962C8B-B14F-4D97-AF65-F5344CB8AC3E}">
        <p14:creationId xmlns:p14="http://schemas.microsoft.com/office/powerpoint/2010/main" val="70865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627CFF-93F6-4979-AF56-E826A3B8AEB0}"/>
              </a:ext>
            </a:extLst>
          </p:cNvPr>
          <p:cNvSpPr/>
          <p:nvPr/>
        </p:nvSpPr>
        <p:spPr>
          <a:xfrm>
            <a:off x="365760" y="1393900"/>
            <a:ext cx="11437034" cy="51823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body {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 display: grid;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 grid-template-areas: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   "header header </a:t>
            </a:r>
            <a:r>
              <a:rPr lang="en-US" sz="3600" b="0" i="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header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"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   "aside main </a:t>
            </a:r>
            <a:r>
              <a:rPr lang="en-US" sz="3600" b="0" i="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main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"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   "footer footer </a:t>
            </a:r>
            <a:r>
              <a:rPr lang="en-US" sz="3600" b="0" i="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footer</a:t>
            </a:r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";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}</a:t>
            </a:r>
            <a:endParaRPr lang="pt-BR" sz="3600" b="0" i="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016142-E8A2-4664-8C70-56D1EDDE4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Nosso primeiro passo será definir qual </a:t>
            </a:r>
            <a:r>
              <a:rPr kumimoji="0" lang="pt-BR" altLang="pt-BR" sz="1300" b="0" i="0" u="none" strike="noStrike" cap="none" normalizeH="0" baseline="0" dirty="0" err="1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tag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 vai receber as "lacunas" para posteriormente adicionarmos nossos elementos. Bom, se tudo esta dentro de 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, temos um bom candidato: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504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Dizendo aos elementos onde devem ficar</a:t>
            </a:r>
          </a:p>
          <a:p>
            <a:pPr algn="just"/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Para dizer aos elementos onde eles devem ficar, ou seja, qual "lacuna" é de cada um, precisamos ir em um por um deles e informar:</a:t>
            </a:r>
          </a:p>
        </p:txBody>
      </p:sp>
    </p:spTree>
    <p:extLst>
      <p:ext uri="{BB962C8B-B14F-4D97-AF65-F5344CB8AC3E}">
        <p14:creationId xmlns:p14="http://schemas.microsoft.com/office/powerpoint/2010/main" val="3838668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627CFF-93F6-4979-AF56-E826A3B8AEB0}"/>
              </a:ext>
            </a:extLst>
          </p:cNvPr>
          <p:cNvSpPr/>
          <p:nvPr/>
        </p:nvSpPr>
        <p:spPr>
          <a:xfrm>
            <a:off x="365760" y="1393900"/>
            <a:ext cx="11437034" cy="51823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.o-header {</a:t>
            </a: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grid-area: header;</a:t>
            </a: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endParaRPr lang="en-US" sz="22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.o-aside {</a:t>
            </a: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grid-area: aside;</a:t>
            </a: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endParaRPr lang="en-US" sz="22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.o-main {</a:t>
            </a: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grid-area: main;</a:t>
            </a: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endParaRPr lang="en-US" sz="22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.o-footer {</a:t>
            </a: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grid-area: footer;</a:t>
            </a:r>
          </a:p>
          <a:p>
            <a:r>
              <a:rPr lang="en-US" sz="22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}</a:t>
            </a:r>
            <a:endParaRPr lang="pt-BR" sz="2200" b="0" i="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016142-E8A2-4664-8C70-56D1EDDE4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Nosso primeiro passo será definir qual </a:t>
            </a:r>
            <a:r>
              <a:rPr kumimoji="0" lang="pt-BR" altLang="pt-BR" sz="1300" b="0" i="0" u="none" strike="noStrike" cap="none" normalizeH="0" baseline="0" dirty="0" err="1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tag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 vai receber as "lacunas" para posteriormente adicionarmos nossos elementos. Bom, se tudo esta dentro de 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, temos um bom candidato: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4189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627CFF-93F6-4979-AF56-E826A3B8AEB0}"/>
              </a:ext>
            </a:extLst>
          </p:cNvPr>
          <p:cNvSpPr/>
          <p:nvPr/>
        </p:nvSpPr>
        <p:spPr>
          <a:xfrm>
            <a:off x="365760" y="1393900"/>
            <a:ext cx="11437034" cy="51823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.o-header, .o-aside, .o-main, .o-footer {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background: #BC20E2;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color: #FDFDFD;</a:t>
            </a:r>
          </a:p>
          <a:p>
            <a:r>
              <a:rPr lang="en-US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}</a:t>
            </a:r>
            <a:endParaRPr lang="pt-BR" sz="3600" b="0" i="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016142-E8A2-4664-8C70-56D1EDDE4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Nosso primeiro passo será definir qual </a:t>
            </a:r>
            <a:r>
              <a:rPr kumimoji="0" lang="pt-BR" altLang="pt-BR" sz="1300" b="0" i="0" u="none" strike="noStrike" cap="none" normalizeH="0" baseline="0" dirty="0" err="1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tag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 vai receber as "lacunas" para posteriormente adicionarmos nossos elementos. Bom, se tudo esta dentro de 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rgbClr val="093366"/>
                </a:solidFill>
                <a:effectLst/>
                <a:latin typeface="Inter"/>
              </a:rPr>
              <a:t>, temos um bom candidato: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032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Dando espaçamentos entre os elementos</a:t>
            </a:r>
          </a:p>
          <a:p>
            <a:pPr algn="just"/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Vamos então, informar o espaço que devem haver entre os elementos: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EDD2EA4-3B04-4037-A031-2BF9244B0D5A}"/>
              </a:ext>
            </a:extLst>
          </p:cNvPr>
          <p:cNvSpPr/>
          <p:nvPr/>
        </p:nvSpPr>
        <p:spPr>
          <a:xfrm>
            <a:off x="365760" y="3953023"/>
            <a:ext cx="11437034" cy="13997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6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body</a:t>
            </a:r>
            <a:r>
              <a:rPr lang="pt-BR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{ </a:t>
            </a:r>
            <a:r>
              <a:rPr lang="pt-BR" sz="3600" b="0" i="0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grid-gap</a:t>
            </a:r>
            <a:r>
              <a:rPr lang="pt-BR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pt-BR" sz="3600" b="0" i="0" dirty="0">
                <a:solidFill>
                  <a:srgbClr val="986801"/>
                </a:solidFill>
                <a:effectLst/>
                <a:latin typeface="Courier New" panose="02070309020205020404" pitchFamily="49" charset="0"/>
              </a:rPr>
              <a:t>1rem</a:t>
            </a:r>
            <a:r>
              <a:rPr lang="pt-BR" sz="36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; }</a:t>
            </a:r>
            <a:endParaRPr lang="pt-BR" sz="3600" b="0" i="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2DFAED-A7EC-441C-A373-CD6D5E6B5DA9}"/>
              </a:ext>
            </a:extLst>
          </p:cNvPr>
          <p:cNvSpPr txBox="1"/>
          <p:nvPr/>
        </p:nvSpPr>
        <p:spPr>
          <a:xfrm>
            <a:off x="644768" y="5475804"/>
            <a:ext cx="109024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 isso, os elementos já devem estar espaçados em 1rem que seria 16px:</a:t>
            </a:r>
          </a:p>
        </p:txBody>
      </p:sp>
    </p:spTree>
    <p:extLst>
      <p:ext uri="{BB962C8B-B14F-4D97-AF65-F5344CB8AC3E}">
        <p14:creationId xmlns:p14="http://schemas.microsoft.com/office/powerpoint/2010/main" val="2462321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Dizendo o tamanho dos elementos</a:t>
            </a:r>
          </a:p>
          <a:p>
            <a:pPr algn="just"/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Para dizer o tamanho que cada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(linha) ou </a:t>
            </a:r>
            <a:r>
              <a:rPr lang="pt-BR" sz="36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  <a:r>
              <a:rPr lang="pt-BR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(coluna) devem ter, precisamos também dizer ao nosso template:</a:t>
            </a:r>
          </a:p>
          <a:p>
            <a:pPr algn="just"/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1354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627CFF-93F6-4979-AF56-E826A3B8AEB0}"/>
              </a:ext>
            </a:extLst>
          </p:cNvPr>
          <p:cNvSpPr/>
          <p:nvPr/>
        </p:nvSpPr>
        <p:spPr>
          <a:xfrm>
            <a:off x="365760" y="1393900"/>
            <a:ext cx="11437034" cy="518234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400" b="0" i="0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body</a:t>
            </a:r>
            <a:r>
              <a:rPr lang="pt-BR" sz="34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{</a:t>
            </a:r>
          </a:p>
          <a:p>
            <a:r>
              <a:rPr lang="pt-BR" sz="3400" b="0" i="0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grid-template-</a:t>
            </a:r>
            <a:r>
              <a:rPr lang="pt-BR" sz="3400" b="0" i="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columns</a:t>
            </a:r>
            <a:r>
              <a:rPr lang="pt-BR" sz="34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: auto </a:t>
            </a:r>
            <a:r>
              <a:rPr lang="pt-BR" sz="3400" b="0" i="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auto</a:t>
            </a:r>
            <a:r>
              <a:rPr lang="pt-BR" sz="34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3400" b="0" i="0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auto</a:t>
            </a:r>
            <a:r>
              <a:rPr lang="pt-BR" sz="34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; </a:t>
            </a:r>
            <a:r>
              <a:rPr lang="pt-BR" sz="3400" b="0" i="0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grid-template-</a:t>
            </a:r>
            <a:r>
              <a:rPr lang="pt-BR" sz="3400" b="0" i="0" dirty="0" err="1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rows</a:t>
            </a:r>
            <a:r>
              <a:rPr lang="pt-BR" sz="34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: auto </a:t>
            </a:r>
            <a:r>
              <a:rPr lang="pt-BR" sz="3400" b="0" i="0" dirty="0">
                <a:solidFill>
                  <a:srgbClr val="986801"/>
                </a:solidFill>
                <a:effectLst/>
                <a:latin typeface="Courier New" panose="02070309020205020404" pitchFamily="49" charset="0"/>
              </a:rPr>
              <a:t>100vh</a:t>
            </a:r>
            <a:r>
              <a:rPr lang="pt-BR" sz="34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auto;</a:t>
            </a:r>
          </a:p>
          <a:p>
            <a:r>
              <a:rPr lang="pt-BR" sz="34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}</a:t>
            </a:r>
            <a:endParaRPr lang="pt-BR" sz="3400" b="0" i="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</p:spTree>
    <p:extLst>
      <p:ext uri="{BB962C8B-B14F-4D97-AF65-F5344CB8AC3E}">
        <p14:creationId xmlns:p14="http://schemas.microsoft.com/office/powerpoint/2010/main" val="38861690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0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	Repare novamente que tanto nossas </a:t>
            </a:r>
            <a:r>
              <a:rPr lang="pt-BR" sz="30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columns</a:t>
            </a:r>
            <a:r>
              <a:rPr lang="pt-BR" sz="30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sz="30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pt-BR" sz="30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estão sendo informadas três vezes, isso porque temos um layout de três colunas e três linhas, veja também que apenas para a segunda linha declaramos o valor 100vh que corresponde a altura total da _</a:t>
            </a:r>
            <a:r>
              <a:rPr lang="pt-BR" sz="30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viewport</a:t>
            </a:r>
            <a:r>
              <a:rPr lang="pt-BR" sz="30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_, as demais linhas serão automáticas.</a:t>
            </a:r>
          </a:p>
          <a:p>
            <a:pPr algn="just"/>
            <a:endParaRPr lang="pt-BR" sz="3000" b="0" i="0" dirty="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30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Por padrão, o valor será auto. Para saber quais valores podem ser </a:t>
            </a:r>
            <a:r>
              <a:rPr lang="pt-BR" sz="30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setados</a:t>
            </a:r>
            <a:r>
              <a:rPr lang="pt-BR" sz="30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consulte a documentação: grid-template-</a:t>
            </a:r>
            <a:r>
              <a:rPr lang="pt-BR" sz="30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columns</a:t>
            </a:r>
            <a:r>
              <a:rPr lang="pt-BR" sz="30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grid-template-</a:t>
            </a:r>
            <a:r>
              <a:rPr lang="pt-BR" sz="30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pt-BR" sz="3000" b="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685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Dando os toques finais</a:t>
            </a:r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E0C0B2-BE87-45D0-9AC7-0CE2081FC391}"/>
              </a:ext>
            </a:extLst>
          </p:cNvPr>
          <p:cNvSpPr/>
          <p:nvPr/>
        </p:nvSpPr>
        <p:spPr>
          <a:xfrm>
            <a:off x="365760" y="2452043"/>
            <a:ext cx="11437034" cy="41242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body {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display: grid;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font-family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Arial,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sans-serif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grid-gap: 1rem;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grid-template-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areas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"header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"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aside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main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"footer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grid-template-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columns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auto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grid-template-</a:t>
            </a:r>
            <a:r>
              <a:rPr lang="pt-BR" sz="23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auto 100vh auto;</a:t>
            </a:r>
          </a:p>
          <a:p>
            <a:r>
              <a:rPr lang="pt-BR" sz="23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41951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Dando os toques finais</a:t>
            </a:r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E0C0B2-BE87-45D0-9AC7-0CE2081FC391}"/>
              </a:ext>
            </a:extLst>
          </p:cNvPr>
          <p:cNvSpPr/>
          <p:nvPr/>
        </p:nvSpPr>
        <p:spPr>
          <a:xfrm>
            <a:off x="365760" y="2452043"/>
            <a:ext cx="11437034" cy="41242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.o-header {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grid-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header;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1.5rem;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pt-BR" sz="30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.o-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aside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grid-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aside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24855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Dando os toques finais</a:t>
            </a:r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E0C0B2-BE87-45D0-9AC7-0CE2081FC391}"/>
              </a:ext>
            </a:extLst>
          </p:cNvPr>
          <p:cNvSpPr/>
          <p:nvPr/>
        </p:nvSpPr>
        <p:spPr>
          <a:xfrm>
            <a:off x="365760" y="2452043"/>
            <a:ext cx="11437034" cy="41242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o-main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grid-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main;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pt-BR" sz="30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.o-footer {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grid-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footer;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3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1rem;</a:t>
            </a:r>
          </a:p>
          <a:p>
            <a:r>
              <a:rPr lang="pt-BR" sz="3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7485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937490" y="189119"/>
            <a:ext cx="103170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Criando Layouts com CSS Grid Layout</a:t>
            </a:r>
          </a:p>
          <a:p>
            <a:pPr algn="ctr"/>
            <a:r>
              <a:rPr lang="pt-BR" i="1" dirty="0">
                <a:solidFill>
                  <a:srgbClr val="FFFF00"/>
                </a:solidFill>
              </a:rPr>
              <a:t>https://www.alura.com.br/artigos/criando-layouts-com-css-grid-layout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9C7579-E52B-4FEF-805D-51FCF484C379}"/>
              </a:ext>
            </a:extLst>
          </p:cNvPr>
          <p:cNvSpPr txBox="1"/>
          <p:nvPr/>
        </p:nvSpPr>
        <p:spPr>
          <a:xfrm>
            <a:off x="633046" y="1505247"/>
            <a:ext cx="10902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0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Dando os toques finais</a:t>
            </a:r>
            <a:endParaRPr lang="pt-BR" sz="3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E0C0B2-BE87-45D0-9AC7-0CE2081FC391}"/>
              </a:ext>
            </a:extLst>
          </p:cNvPr>
          <p:cNvSpPr/>
          <p:nvPr/>
        </p:nvSpPr>
        <p:spPr>
          <a:xfrm>
            <a:off x="365760" y="2452043"/>
            <a:ext cx="11437034" cy="41242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3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.o-header, .o-</a:t>
            </a:r>
            <a:r>
              <a:rPr lang="pt-BR" sz="3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aside</a:t>
            </a:r>
            <a:r>
              <a:rPr lang="pt-BR" sz="3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.</a:t>
            </a:r>
            <a:r>
              <a:rPr lang="pt-BR" sz="32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o-main</a:t>
            </a:r>
            <a:r>
              <a:rPr lang="pt-BR" sz="3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.o-footer {</a:t>
            </a:r>
          </a:p>
          <a:p>
            <a:r>
              <a:rPr lang="pt-BR" sz="3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background: #BC20E2;</a:t>
            </a:r>
          </a:p>
          <a:p>
            <a:r>
              <a:rPr lang="pt-BR" sz="3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color: #FDFDFD;</a:t>
            </a:r>
          </a:p>
          <a:p>
            <a:r>
              <a:rPr lang="pt-BR" sz="3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7598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Ardósia</Template>
  <TotalTime>479</TotalTime>
  <Words>1295</Words>
  <Application>Microsoft Office PowerPoint</Application>
  <PresentationFormat>Widescreen</PresentationFormat>
  <Paragraphs>258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5" baseType="lpstr">
      <vt:lpstr>Arial</vt:lpstr>
      <vt:lpstr>Calisto MT</vt:lpstr>
      <vt:lpstr>Courier New</vt:lpstr>
      <vt:lpstr>Inter</vt:lpstr>
      <vt:lpstr>Trebuchet MS</vt:lpstr>
      <vt:lpstr>Wingdings 2</vt:lpstr>
      <vt:lpstr>Ardósia</vt:lpstr>
      <vt:lpstr>Grid Layout e Semântica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</dc:title>
  <dc:creator>Patrick Vinicius</dc:creator>
  <cp:lastModifiedBy>Micro</cp:lastModifiedBy>
  <cp:revision>24</cp:revision>
  <dcterms:created xsi:type="dcterms:W3CDTF">2021-08-11T23:38:48Z</dcterms:created>
  <dcterms:modified xsi:type="dcterms:W3CDTF">2022-08-26T01:40:37Z</dcterms:modified>
</cp:coreProperties>
</file>