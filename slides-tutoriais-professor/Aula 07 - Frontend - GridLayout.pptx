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308" r:id="rId2"/>
    <p:sldId id="257" r:id="rId3"/>
    <p:sldId id="309" r:id="rId4"/>
    <p:sldId id="258" r:id="rId5"/>
    <p:sldId id="310" r:id="rId6"/>
    <p:sldId id="311" r:id="rId7"/>
    <p:sldId id="312" r:id="rId8"/>
    <p:sldId id="315" r:id="rId9"/>
    <p:sldId id="317" r:id="rId10"/>
    <p:sldId id="318" r:id="rId11"/>
    <p:sldId id="320" r:id="rId12"/>
    <p:sldId id="321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44" r:id="rId28"/>
    <p:sldId id="313" r:id="rId29"/>
    <p:sldId id="314" r:id="rId30"/>
    <p:sldId id="374" r:id="rId31"/>
    <p:sldId id="370" r:id="rId32"/>
    <p:sldId id="371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5" r:id="rId41"/>
    <p:sldId id="346" r:id="rId42"/>
    <p:sldId id="347" r:id="rId43"/>
    <p:sldId id="349" r:id="rId44"/>
    <p:sldId id="350" r:id="rId45"/>
    <p:sldId id="351" r:id="rId46"/>
    <p:sldId id="348" r:id="rId47"/>
    <p:sldId id="352" r:id="rId48"/>
    <p:sldId id="358" r:id="rId49"/>
    <p:sldId id="359" r:id="rId50"/>
    <p:sldId id="353" r:id="rId51"/>
    <p:sldId id="356" r:id="rId52"/>
    <p:sldId id="355" r:id="rId53"/>
    <p:sldId id="354" r:id="rId54"/>
    <p:sldId id="361" r:id="rId55"/>
    <p:sldId id="357" r:id="rId56"/>
    <p:sldId id="362" r:id="rId57"/>
    <p:sldId id="360" r:id="rId58"/>
    <p:sldId id="363" r:id="rId59"/>
    <p:sldId id="366" r:id="rId60"/>
    <p:sldId id="365" r:id="rId61"/>
    <p:sldId id="367" r:id="rId62"/>
    <p:sldId id="364" r:id="rId63"/>
    <p:sldId id="369" r:id="rId64"/>
    <p:sldId id="368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A36"/>
    <a:srgbClr val="97E1F1"/>
    <a:srgbClr val="BF9EEE"/>
    <a:srgbClr val="645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8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9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46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91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75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5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2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78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06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56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03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2057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00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924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3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805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58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7EC7549-1353-48C7-B3F9-3D97967D40E7}" type="datetimeFigureOut">
              <a:rPr lang="pt-BR" smtClean="0"/>
              <a:t>25/08/2022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F013B13-11CF-438F-A9C5-8A702BD5B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01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igamid.com/projetos/css-grid-layout-guia-completo/" TargetMode="External"/><Relationship Id="rId2" Type="http://schemas.openxmlformats.org/officeDocument/2006/relationships/hyperlink" Target="https://www.alura.com.br/conteudo/css-grid-layout?gclid=CjwKCAjw3_KIBhA2EiwAaAAliiabybEP-RAgOO87PlAeSLn7vGd9ppkN5ITQ8GyEU9x1yLRzcskCzhoCg1gQAvD_BwE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HN1UjzRSdBk&amp;t=424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B8D14-9CF0-4CE6-923D-042B3EFC6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dirty="0"/>
              <a:t>Grid Layout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DB2CD9-B22A-4D92-9A89-56B5477B5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AULA </a:t>
            </a:r>
            <a:r>
              <a:rPr lang="pt-BR" sz="4000" dirty="0" smtClean="0"/>
              <a:t>07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392879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2A9A84E-35F5-43D2-A4DB-AB86B11FEAB0}"/>
              </a:ext>
            </a:extLst>
          </p:cNvPr>
          <p:cNvSpPr txBox="1"/>
          <p:nvPr/>
        </p:nvSpPr>
        <p:spPr>
          <a:xfrm>
            <a:off x="2581563" y="191122"/>
            <a:ext cx="70288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Layout</a:t>
            </a:r>
          </a:p>
          <a:p>
            <a:pPr algn="ctr"/>
            <a:r>
              <a:rPr lang="pt-BR" sz="4200" b="1" i="1" dirty="0">
                <a:solidFill>
                  <a:srgbClr val="FFFF00"/>
                </a:solidFill>
              </a:rPr>
              <a:t>Estudo complementar</a:t>
            </a:r>
          </a:p>
        </p:txBody>
      </p:sp>
      <p:sp>
        <p:nvSpPr>
          <p:cNvPr id="4" name="CaixaDeTexto 3">
            <a:hlinkClick r:id="rId2"/>
            <a:extLst>
              <a:ext uri="{FF2B5EF4-FFF2-40B4-BE49-F238E27FC236}">
                <a16:creationId xmlns:a16="http://schemas.microsoft.com/office/drawing/2014/main" id="{EE037DD3-795D-46E6-A76B-AD114F13A61F}"/>
              </a:ext>
            </a:extLst>
          </p:cNvPr>
          <p:cNvSpPr txBox="1"/>
          <p:nvPr/>
        </p:nvSpPr>
        <p:spPr>
          <a:xfrm>
            <a:off x="618978" y="2489991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CSS Grid: Simplificando layouts (ALURA)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A1CED67-1F0B-47EF-94ED-2792D1A32A6C}"/>
              </a:ext>
            </a:extLst>
          </p:cNvPr>
          <p:cNvSpPr txBox="1"/>
          <p:nvPr/>
        </p:nvSpPr>
        <p:spPr>
          <a:xfrm>
            <a:off x="630700" y="3676240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Guia CSS Grid Layout (ORIGAMID)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71C574-A398-4BA8-9C4D-1D9B18122836}"/>
              </a:ext>
            </a:extLst>
          </p:cNvPr>
          <p:cNvSpPr txBox="1"/>
          <p:nvPr/>
        </p:nvSpPr>
        <p:spPr>
          <a:xfrm>
            <a:off x="630700" y="4862489"/>
            <a:ext cx="10902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Desvendando o CSS Grid na prática (Rocketseat)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8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927280"/>
            <a:ext cx="10902462" cy="3156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Bidimensional;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Divisão de toda a página em linhas e colunas;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Colocar elementos onde quiser nessa divisão.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49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ou </a:t>
            </a:r>
            <a:r>
              <a:rPr lang="pt-BR" sz="4200" dirty="0" err="1"/>
              <a:t>Flexbox</a:t>
            </a:r>
            <a:endParaRPr lang="pt-BR" sz="4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423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Grid: Duas dimensões (colunas e linhas);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Flexbox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Uma dimensão (ou coluna ou linha);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complementa o trabalho do outro;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Alguns navegadores não estão aceitam o Grid.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84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Propriedades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07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Container;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Item(s).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4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Container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display: grid;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grid-template-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grid-template-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grid-gap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-gap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-gap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grid-template-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areas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03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Item(s)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grid-column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grid-column-start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grid-column-end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grid-row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grid-row-start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grid-row-end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grid-area</a:t>
            </a:r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85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Resetando meu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      body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box-sizing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border-box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algn="just"/>
            <a:endParaRPr lang="pt-BR" sz="35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242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Vamos iniciar com os elementos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3600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3600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&lt;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&lt;/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3543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Cor e Tamanho para os elementos via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coral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</a:b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308130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Cor e Tamanho para os elementos via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</a:b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#7159c1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177590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.container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3fr 1fr;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  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20vh 70vh 10vh;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grid-gap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/* grid-</a:t>
            </a:r>
            <a:r>
              <a:rPr lang="pt-BR" sz="3600" b="0" dirty="0" err="1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-gap: 20px;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    grid-</a:t>
            </a:r>
            <a:r>
              <a:rPr lang="pt-BR" sz="3600" b="0" dirty="0" err="1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-gap: 20px; */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}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34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Column</a:t>
            </a:r>
            <a:r>
              <a:rPr lang="pt-BR" sz="4200" dirty="0"/>
              <a:t> - Header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coral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-start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3600" dirty="0">
              <a:solidFill>
                <a:srgbClr val="F6F6F4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4912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Column</a:t>
            </a:r>
            <a:r>
              <a:rPr lang="pt-BR" sz="4200" dirty="0"/>
              <a:t> - </a:t>
            </a:r>
            <a:r>
              <a:rPr lang="pt-BR" sz="4200" dirty="0" err="1"/>
              <a:t>Main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-start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3709546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Column</a:t>
            </a:r>
            <a:r>
              <a:rPr lang="pt-BR" sz="4200" dirty="0"/>
              <a:t> - </a:t>
            </a:r>
            <a:r>
              <a:rPr lang="pt-BR" sz="4200" dirty="0" err="1"/>
              <a:t>Aside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-start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4038814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Column</a:t>
            </a:r>
            <a:r>
              <a:rPr lang="pt-BR" sz="4200" dirty="0"/>
              <a:t> - </a:t>
            </a:r>
            <a:r>
              <a:rPr lang="pt-BR" sz="4200" dirty="0" err="1"/>
              <a:t>Footer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#7159c1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-start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2558865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Row - Header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coral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1/3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1/2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3600" dirty="0">
              <a:solidFill>
                <a:srgbClr val="F6F6F4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2350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Row - </a:t>
            </a:r>
            <a:r>
              <a:rPr lang="pt-BR" sz="4200" dirty="0" err="1"/>
              <a:t>Main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2/3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2/3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3600" dirty="0">
              <a:solidFill>
                <a:srgbClr val="F6F6F4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961893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Row - </a:t>
            </a:r>
            <a:r>
              <a:rPr lang="pt-BR" sz="4200" dirty="0" err="1"/>
              <a:t>Aside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1/2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2/3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3600" dirty="0">
              <a:solidFill>
                <a:srgbClr val="F6F6F4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1780350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Row - </a:t>
            </a:r>
            <a:r>
              <a:rPr lang="pt-BR" sz="4200" dirty="0" err="1"/>
              <a:t>Footer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#7159c1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1/3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				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3/4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}</a:t>
            </a:r>
          </a:p>
        </p:txBody>
      </p:sp>
    </p:spTree>
    <p:extLst>
      <p:ext uri="{BB962C8B-B14F-4D97-AF65-F5344CB8AC3E}">
        <p14:creationId xmlns:p14="http://schemas.microsoft.com/office/powerpoint/2010/main" val="3632116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TEMPLATE AREAS .container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20vh 70vh 10vh;</a:t>
            </a:r>
          </a:p>
          <a:p>
            <a:r>
              <a:rPr lang="pt-BR" sz="3600" b="0" dirty="0">
                <a:solidFill>
                  <a:srgbClr val="7B7F8B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1fr 3fr;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areas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 “header 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”</a:t>
            </a:r>
          </a:p>
          <a:p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													“</a:t>
            </a:r>
            <a:r>
              <a:rPr lang="pt-BR" sz="3600" dirty="0" err="1">
                <a:solidFill>
                  <a:srgbClr val="BF9EEE"/>
                </a:solidFill>
                <a:latin typeface="Consolas" panose="020B0609020204030204" pitchFamily="49" charset="0"/>
              </a:rPr>
              <a:t>aside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 </a:t>
            </a:r>
            <a:r>
              <a:rPr lang="pt-BR" sz="3600">
                <a:solidFill>
                  <a:srgbClr val="BF9EEE"/>
                </a:solidFill>
                <a:latin typeface="Consolas" panose="020B0609020204030204" pitchFamily="49" charset="0"/>
              </a:rPr>
              <a:t>main”</a:t>
            </a:r>
            <a:endParaRPr lang="pt-BR" sz="3600" dirty="0">
              <a:solidFill>
                <a:srgbClr val="BF9EEE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													“</a:t>
            </a:r>
            <a:r>
              <a:rPr lang="pt-BR" sz="3600" dirty="0" err="1">
                <a:solidFill>
                  <a:srgbClr val="BF9EEE"/>
                </a:solidFill>
                <a:latin typeface="Consolas" panose="020B0609020204030204" pitchFamily="49" charset="0"/>
              </a:rPr>
              <a:t>footer</a:t>
            </a:r>
            <a:r>
              <a:rPr lang="pt-BR" sz="3600" dirty="0">
                <a:solidFill>
                  <a:srgbClr val="BF9EEE"/>
                </a:solidFill>
                <a:latin typeface="Consolas" panose="020B0609020204030204" pitchFamily="49" charset="0"/>
              </a:rPr>
              <a:t> </a:t>
            </a:r>
            <a:r>
              <a:rPr lang="pt-BR" sz="3600" dirty="0" err="1">
                <a:solidFill>
                  <a:srgbClr val="BF9EEE"/>
                </a:solidFill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”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}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56F201-8C94-466F-A314-401706D6FF14}"/>
              </a:ext>
            </a:extLst>
          </p:cNvPr>
          <p:cNvSpPr txBox="1"/>
          <p:nvPr/>
        </p:nvSpPr>
        <p:spPr>
          <a:xfrm>
            <a:off x="1208567" y="6493465"/>
            <a:ext cx="9750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https://developer.mozilla.org/pt-BR/docs/Web/CSS/CSS_Grid_Layout/Basic_Concepts_of_Grid_Layout</a:t>
            </a:r>
          </a:p>
        </p:txBody>
      </p:sp>
    </p:spTree>
    <p:extLst>
      <p:ext uri="{BB962C8B-B14F-4D97-AF65-F5344CB8AC3E}">
        <p14:creationId xmlns:p14="http://schemas.microsoft.com/office/powerpoint/2010/main" val="242386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AREA - Header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coral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3600" dirty="0">
              <a:solidFill>
                <a:srgbClr val="F6F6F4"/>
              </a:solidFill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6649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AREA - </a:t>
            </a:r>
            <a:r>
              <a:rPr lang="pt-BR" sz="4200" dirty="0" err="1"/>
              <a:t>Main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0927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AREA - </a:t>
            </a:r>
            <a:r>
              <a:rPr lang="pt-BR" sz="4200" dirty="0" err="1"/>
              <a:t>Aside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97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52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4"/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8696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 AREA - </a:t>
            </a:r>
            <a:r>
              <a:rPr lang="pt-BR" sz="4200" dirty="0" err="1"/>
              <a:t>Footer</a:t>
            </a:r>
            <a:r>
              <a:rPr lang="pt-BR" sz="4200" dirty="0"/>
              <a:t>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#7159c1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4"/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4"/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2570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522514" y="191122"/>
            <a:ext cx="11175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Retire o </a:t>
            </a:r>
            <a:r>
              <a:rPr lang="pt-BR" sz="44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44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44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44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44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4400" dirty="0">
                <a:solidFill>
                  <a:srgbClr val="F6F6F4"/>
                </a:solidFill>
                <a:latin typeface="Consolas" panose="020B0609020204030204" pitchFamily="49" charset="0"/>
              </a:rPr>
              <a:t> do CSS abaixo:</a:t>
            </a:r>
            <a:endParaRPr lang="pt-BR" sz="4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688128"/>
            <a:ext cx="10902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header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main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aside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footer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80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302760-A34E-493F-8748-F8329A3BE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1023938"/>
            <a:ext cx="5667375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174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B937D8-B5B1-4176-8A6B-08D6615AA70D}"/>
              </a:ext>
            </a:extLst>
          </p:cNvPr>
          <p:cNvSpPr txBox="1"/>
          <p:nvPr/>
        </p:nvSpPr>
        <p:spPr>
          <a:xfrm>
            <a:off x="937490" y="265439"/>
            <a:ext cx="103170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Desafio: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034579-1A27-4268-8603-0963E66C2315}"/>
              </a:ext>
            </a:extLst>
          </p:cNvPr>
          <p:cNvSpPr txBox="1"/>
          <p:nvPr/>
        </p:nvSpPr>
        <p:spPr>
          <a:xfrm>
            <a:off x="937490" y="1684606"/>
            <a:ext cx="103170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Construa a página do layout apresentado com o uso do </a:t>
            </a:r>
            <a:r>
              <a:rPr lang="pt-BR" sz="5000" dirty="0">
                <a:solidFill>
                  <a:srgbClr val="FFFF00"/>
                </a:solidFill>
              </a:rPr>
              <a:t>GRIDLAYOUT</a:t>
            </a:r>
          </a:p>
          <a:p>
            <a:pPr algn="ctr"/>
            <a:endParaRPr lang="pt-BR" sz="5000" dirty="0">
              <a:solidFill>
                <a:srgbClr val="FFFF00"/>
              </a:solidFill>
            </a:endParaRPr>
          </a:p>
          <a:p>
            <a:pPr algn="ctr"/>
            <a:r>
              <a:rPr lang="pt-BR" sz="5000" dirty="0"/>
              <a:t>Próxima aula iremos falar sobre </a:t>
            </a:r>
            <a:r>
              <a:rPr lang="pt-BR" sz="5000" dirty="0">
                <a:solidFill>
                  <a:srgbClr val="FFFF00"/>
                </a:solidFill>
              </a:rPr>
              <a:t>FLEXBOX</a:t>
            </a:r>
          </a:p>
        </p:txBody>
      </p:sp>
    </p:spTree>
    <p:extLst>
      <p:ext uri="{BB962C8B-B14F-4D97-AF65-F5344CB8AC3E}">
        <p14:creationId xmlns:p14="http://schemas.microsoft.com/office/powerpoint/2010/main" val="1472046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B937D8-B5B1-4176-8A6B-08D6615AA70D}"/>
              </a:ext>
            </a:extLst>
          </p:cNvPr>
          <p:cNvSpPr txBox="1"/>
          <p:nvPr/>
        </p:nvSpPr>
        <p:spPr>
          <a:xfrm>
            <a:off x="937490" y="265439"/>
            <a:ext cx="103170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Desafio 01: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D24BFE-9956-4CCE-99EE-6562BD1EE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72" y="1498460"/>
            <a:ext cx="6270450" cy="50941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5B7F5D5-A0D1-4057-BAC3-27EC22C1B09C}"/>
              </a:ext>
            </a:extLst>
          </p:cNvPr>
          <p:cNvSpPr txBox="1"/>
          <p:nvPr/>
        </p:nvSpPr>
        <p:spPr>
          <a:xfrm>
            <a:off x="937488" y="918575"/>
            <a:ext cx="10317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https://codepen.io/mozilladevelopers/pen/Xejyed</a:t>
            </a:r>
          </a:p>
        </p:txBody>
      </p:sp>
    </p:spTree>
    <p:extLst>
      <p:ext uri="{BB962C8B-B14F-4D97-AF65-F5344CB8AC3E}">
        <p14:creationId xmlns:p14="http://schemas.microsoft.com/office/powerpoint/2010/main" val="3812989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B937D8-B5B1-4176-8A6B-08D6615AA70D}"/>
              </a:ext>
            </a:extLst>
          </p:cNvPr>
          <p:cNvSpPr txBox="1"/>
          <p:nvPr/>
        </p:nvSpPr>
        <p:spPr>
          <a:xfrm>
            <a:off x="937490" y="265439"/>
            <a:ext cx="103170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Desafio 02:</a:t>
            </a:r>
          </a:p>
        </p:txBody>
      </p:sp>
      <p:pic>
        <p:nvPicPr>
          <p:cNvPr id="1026" name="Picture 2" descr="CSS Grid Templates">
            <a:extLst>
              <a:ext uri="{FF2B5EF4-FFF2-40B4-BE49-F238E27FC236}">
                <a16:creationId xmlns:a16="http://schemas.microsoft.com/office/drawing/2014/main" id="{64C7C115-AABC-4D6A-B699-D2697AD44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273" y="1417983"/>
            <a:ext cx="7207452" cy="497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783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B937D8-B5B1-4176-8A6B-08D6615AA70D}"/>
              </a:ext>
            </a:extLst>
          </p:cNvPr>
          <p:cNvSpPr txBox="1"/>
          <p:nvPr/>
        </p:nvSpPr>
        <p:spPr>
          <a:xfrm>
            <a:off x="937490" y="265439"/>
            <a:ext cx="103170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Desafio 03:</a:t>
            </a:r>
          </a:p>
        </p:txBody>
      </p:sp>
      <p:pic>
        <p:nvPicPr>
          <p:cNvPr id="2050" name="Picture 2" descr="CSS Grid. Grid layouts are fundamental to the… | by Sanjib Roy | Medium">
            <a:extLst>
              <a:ext uri="{FF2B5EF4-FFF2-40B4-BE49-F238E27FC236}">
                <a16:creationId xmlns:a16="http://schemas.microsoft.com/office/drawing/2014/main" id="{18ABD1A1-E775-46F1-A010-91A3CC44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62" y="1277178"/>
            <a:ext cx="10851874" cy="511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610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CB937D8-B5B1-4176-8A6B-08D6615AA70D}"/>
              </a:ext>
            </a:extLst>
          </p:cNvPr>
          <p:cNvSpPr txBox="1"/>
          <p:nvPr/>
        </p:nvSpPr>
        <p:spPr>
          <a:xfrm>
            <a:off x="937490" y="265439"/>
            <a:ext cx="103170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/>
              <a:t>Desafio 04:</a:t>
            </a:r>
          </a:p>
        </p:txBody>
      </p:sp>
      <p:pic>
        <p:nvPicPr>
          <p:cNvPr id="3074" name="Picture 2" descr="18 Grid Layouts para construir sites impressionantes – Ed Rodrigues">
            <a:extLst>
              <a:ext uri="{FF2B5EF4-FFF2-40B4-BE49-F238E27FC236}">
                <a16:creationId xmlns:a16="http://schemas.microsoft.com/office/drawing/2014/main" id="{4E73282B-9709-4AA8-8850-DCAC46F5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19" y="1509713"/>
            <a:ext cx="11018768" cy="498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302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Grid: Alinhamentos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1090246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</p:spTree>
    <p:extLst>
      <p:ext uri="{BB962C8B-B14F-4D97-AF65-F5344CB8AC3E}">
        <p14:creationId xmlns:p14="http://schemas.microsoft.com/office/powerpoint/2010/main" val="2016928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Grid: Alinhamentos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F3335F-DB52-445C-8DE9-BFF29C9F2737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FA80839-A6FC-42DC-AC76-350EE5AA76AC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1025236" y="1674278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91308" y="247322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738C093-98F5-4363-970F-061641D8AE94}"/>
              </a:ext>
            </a:extLst>
          </p:cNvPr>
          <p:cNvSpPr/>
          <p:nvPr/>
        </p:nvSpPr>
        <p:spPr>
          <a:xfrm>
            <a:off x="992908" y="3272166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B180F7C-89AA-4654-A95B-B0BE1D2D42E6}"/>
              </a:ext>
            </a:extLst>
          </p:cNvPr>
          <p:cNvSpPr/>
          <p:nvPr/>
        </p:nvSpPr>
        <p:spPr>
          <a:xfrm>
            <a:off x="891308" y="407111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A0ABF5B-4DBD-4AF5-B1C1-6444E04421D2}"/>
              </a:ext>
            </a:extLst>
          </p:cNvPr>
          <p:cNvSpPr/>
          <p:nvPr/>
        </p:nvSpPr>
        <p:spPr>
          <a:xfrm>
            <a:off x="1006761" y="486268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E1B0A0F-DAF8-466B-9BA7-11755E353D98}"/>
              </a:ext>
            </a:extLst>
          </p:cNvPr>
          <p:cNvSpPr/>
          <p:nvPr/>
        </p:nvSpPr>
        <p:spPr>
          <a:xfrm>
            <a:off x="863597" y="566349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941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Grid: Alinhamentos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1025236" y="1674278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91308" y="247322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738C093-98F5-4363-970F-061641D8AE94}"/>
              </a:ext>
            </a:extLst>
          </p:cNvPr>
          <p:cNvSpPr/>
          <p:nvPr/>
        </p:nvSpPr>
        <p:spPr>
          <a:xfrm>
            <a:off x="992908" y="3272166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B180F7C-89AA-4654-A95B-B0BE1D2D42E6}"/>
              </a:ext>
            </a:extLst>
          </p:cNvPr>
          <p:cNvSpPr/>
          <p:nvPr/>
        </p:nvSpPr>
        <p:spPr>
          <a:xfrm>
            <a:off x="891308" y="407111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A0ABF5B-4DBD-4AF5-B1C1-6444E04421D2}"/>
              </a:ext>
            </a:extLst>
          </p:cNvPr>
          <p:cNvSpPr/>
          <p:nvPr/>
        </p:nvSpPr>
        <p:spPr>
          <a:xfrm>
            <a:off x="1006761" y="486268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E1B0A0F-DAF8-466B-9BA7-11755E353D98}"/>
              </a:ext>
            </a:extLst>
          </p:cNvPr>
          <p:cNvSpPr/>
          <p:nvPr/>
        </p:nvSpPr>
        <p:spPr>
          <a:xfrm>
            <a:off x="863597" y="566349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F7AF07-979D-4EE7-9DDD-01F4680CDC00}"/>
              </a:ext>
            </a:extLst>
          </p:cNvPr>
          <p:cNvSpPr/>
          <p:nvPr/>
        </p:nvSpPr>
        <p:spPr>
          <a:xfrm>
            <a:off x="2142837" y="1461789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824CD2E-D179-44E1-ADEE-BF28C427F89D}"/>
              </a:ext>
            </a:extLst>
          </p:cNvPr>
          <p:cNvSpPr/>
          <p:nvPr/>
        </p:nvSpPr>
        <p:spPr>
          <a:xfrm>
            <a:off x="1973919" y="3075896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C0064B4-C1B0-41B0-AE70-642A668E5B18}"/>
              </a:ext>
            </a:extLst>
          </p:cNvPr>
          <p:cNvSpPr/>
          <p:nvPr/>
        </p:nvSpPr>
        <p:spPr>
          <a:xfrm>
            <a:off x="1820896" y="4713668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BDC2C35-4269-450C-AF48-733368D21CEE}"/>
              </a:ext>
            </a:extLst>
          </p:cNvPr>
          <p:cNvSpPr txBox="1"/>
          <p:nvPr/>
        </p:nvSpPr>
        <p:spPr>
          <a:xfrm>
            <a:off x="4545268" y="4137342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097334-CBAF-41FD-94A2-DE5359380C99}"/>
              </a:ext>
            </a:extLst>
          </p:cNvPr>
          <p:cNvSpPr txBox="1"/>
          <p:nvPr/>
        </p:nvSpPr>
        <p:spPr>
          <a:xfrm>
            <a:off x="7191486" y="4139835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1894F-EF92-401D-8A5E-0C454EB9FD52}"/>
              </a:ext>
            </a:extLst>
          </p:cNvPr>
          <p:cNvSpPr txBox="1"/>
          <p:nvPr/>
        </p:nvSpPr>
        <p:spPr>
          <a:xfrm>
            <a:off x="9837704" y="4142328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DA03C75-51F4-4864-9FB7-372075891792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flipH="1">
            <a:off x="5551544" y="2473222"/>
            <a:ext cx="830784" cy="16641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3F82458-3A7A-4878-A773-ED74F49AB18D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6382328" y="2473222"/>
            <a:ext cx="1815434" cy="16666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CAFF13B4-C591-431C-95B2-6CC2F878F1E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382328" y="2473222"/>
            <a:ext cx="4267199" cy="16641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910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Grid: Alinhamentos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1025236" y="1674278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91308" y="247322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738C093-98F5-4363-970F-061641D8AE94}"/>
              </a:ext>
            </a:extLst>
          </p:cNvPr>
          <p:cNvSpPr/>
          <p:nvPr/>
        </p:nvSpPr>
        <p:spPr>
          <a:xfrm>
            <a:off x="992908" y="3272166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B180F7C-89AA-4654-A95B-B0BE1D2D42E6}"/>
              </a:ext>
            </a:extLst>
          </p:cNvPr>
          <p:cNvSpPr/>
          <p:nvPr/>
        </p:nvSpPr>
        <p:spPr>
          <a:xfrm>
            <a:off x="891308" y="407111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A0ABF5B-4DBD-4AF5-B1C1-6444E04421D2}"/>
              </a:ext>
            </a:extLst>
          </p:cNvPr>
          <p:cNvSpPr/>
          <p:nvPr/>
        </p:nvSpPr>
        <p:spPr>
          <a:xfrm>
            <a:off x="1006761" y="486268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E1B0A0F-DAF8-466B-9BA7-11755E353D98}"/>
              </a:ext>
            </a:extLst>
          </p:cNvPr>
          <p:cNvSpPr/>
          <p:nvPr/>
        </p:nvSpPr>
        <p:spPr>
          <a:xfrm>
            <a:off x="863597" y="5663490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F7AF07-979D-4EE7-9DDD-01F4680CDC00}"/>
              </a:ext>
            </a:extLst>
          </p:cNvPr>
          <p:cNvSpPr/>
          <p:nvPr/>
        </p:nvSpPr>
        <p:spPr>
          <a:xfrm>
            <a:off x="2142837" y="1461789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824CD2E-D179-44E1-ADEE-BF28C427F89D}"/>
              </a:ext>
            </a:extLst>
          </p:cNvPr>
          <p:cNvSpPr/>
          <p:nvPr/>
        </p:nvSpPr>
        <p:spPr>
          <a:xfrm>
            <a:off x="1973919" y="3075896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C0064B4-C1B0-41B0-AE70-642A668E5B18}"/>
              </a:ext>
            </a:extLst>
          </p:cNvPr>
          <p:cNvSpPr/>
          <p:nvPr/>
        </p:nvSpPr>
        <p:spPr>
          <a:xfrm>
            <a:off x="1820896" y="4713668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BDC2C35-4269-450C-AF48-733368D21CEE}"/>
              </a:ext>
            </a:extLst>
          </p:cNvPr>
          <p:cNvSpPr txBox="1"/>
          <p:nvPr/>
        </p:nvSpPr>
        <p:spPr>
          <a:xfrm>
            <a:off x="4545268" y="4137342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097334-CBAF-41FD-94A2-DE5359380C99}"/>
              </a:ext>
            </a:extLst>
          </p:cNvPr>
          <p:cNvSpPr txBox="1"/>
          <p:nvPr/>
        </p:nvSpPr>
        <p:spPr>
          <a:xfrm>
            <a:off x="7191486" y="4139835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1894F-EF92-401D-8A5E-0C454EB9FD52}"/>
              </a:ext>
            </a:extLst>
          </p:cNvPr>
          <p:cNvSpPr txBox="1"/>
          <p:nvPr/>
        </p:nvSpPr>
        <p:spPr>
          <a:xfrm>
            <a:off x="9837704" y="4142328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4732385F-CDBB-489C-A249-499CF344E7F0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10021455" y="2473222"/>
            <a:ext cx="822525" cy="166910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FFCF6732-D0F6-493D-A6B6-EE9373856BA1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8197762" y="2473222"/>
            <a:ext cx="1823693" cy="16666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5712201" y="2473222"/>
            <a:ext cx="4309254" cy="163621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727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10902462" cy="3224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CSS;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elemento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chamada container;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elementos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divs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dentro da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container;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694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066986"/>
            <a:ext cx="10902462" cy="800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RESETAR o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633046" y="2057898"/>
            <a:ext cx="1090246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Box-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sizing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Border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525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BOX-SIZING</a:t>
            </a:r>
          </a:p>
        </p:txBody>
      </p:sp>
      <p:pic>
        <p:nvPicPr>
          <p:cNvPr id="2050" name="Picture 2" descr="Qué es el Box Sizing en CSS? 🤔 - DEV Community">
            <a:extLst>
              <a:ext uri="{FF2B5EF4-FFF2-40B4-BE49-F238E27FC236}">
                <a16:creationId xmlns:a16="http://schemas.microsoft.com/office/drawing/2014/main" id="{09B185A8-1F04-4B31-A972-73E5E86039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3860" y="1752599"/>
            <a:ext cx="11064280" cy="401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016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066986"/>
            <a:ext cx="10902462" cy="800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RESETAR o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a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633046" y="2057898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 body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box-sizing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border-box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1529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B2BAC2-2E5E-4F79-8B8A-75DA00DAA7F8}"/>
              </a:ext>
            </a:extLst>
          </p:cNvPr>
          <p:cNvSpPr txBox="1"/>
          <p:nvPr/>
        </p:nvSpPr>
        <p:spPr>
          <a:xfrm>
            <a:off x="644768" y="1166842"/>
            <a:ext cx="10902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vh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886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644768" y="1166842"/>
            <a:ext cx="10902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vh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394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1887680" y="127622"/>
            <a:ext cx="8416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– CSS (fazer para A, B e C)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644768" y="1166842"/>
            <a:ext cx="10902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#A1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#A2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aqua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#A3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chocolate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3848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vh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	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661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A3578A-7B0F-43E4-BC44-581EE61059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450" y="234020"/>
            <a:ext cx="11595100" cy="638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67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 </a:t>
            </a:r>
            <a:r>
              <a:rPr lang="pt-BR" sz="4200" dirty="0" err="1"/>
              <a:t>Content</a:t>
            </a:r>
            <a:endParaRPr lang="pt-BR" sz="4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1025236" y="1674278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91308" y="2473222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F7AF07-979D-4EE7-9DDD-01F4680CDC00}"/>
              </a:ext>
            </a:extLst>
          </p:cNvPr>
          <p:cNvSpPr/>
          <p:nvPr/>
        </p:nvSpPr>
        <p:spPr>
          <a:xfrm>
            <a:off x="2142837" y="1461789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BDC2C35-4269-450C-AF48-733368D21CEE}"/>
              </a:ext>
            </a:extLst>
          </p:cNvPr>
          <p:cNvSpPr txBox="1"/>
          <p:nvPr/>
        </p:nvSpPr>
        <p:spPr>
          <a:xfrm>
            <a:off x="4545268" y="4137342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097334-CBAF-41FD-94A2-DE5359380C99}"/>
              </a:ext>
            </a:extLst>
          </p:cNvPr>
          <p:cNvSpPr txBox="1"/>
          <p:nvPr/>
        </p:nvSpPr>
        <p:spPr>
          <a:xfrm>
            <a:off x="7191486" y="4139835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1894F-EF92-401D-8A5E-0C454EB9FD52}"/>
              </a:ext>
            </a:extLst>
          </p:cNvPr>
          <p:cNvSpPr txBox="1"/>
          <p:nvPr/>
        </p:nvSpPr>
        <p:spPr>
          <a:xfrm>
            <a:off x="9837704" y="4142328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5712201" y="2473222"/>
            <a:ext cx="4309254" cy="163621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5551544" y="2473222"/>
            <a:ext cx="830784" cy="16641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D866CED-715C-4B3A-873B-BDA2060A964C}"/>
              </a:ext>
            </a:extLst>
          </p:cNvPr>
          <p:cNvSpPr txBox="1"/>
          <p:nvPr/>
        </p:nvSpPr>
        <p:spPr>
          <a:xfrm>
            <a:off x="4545268" y="5243527"/>
            <a:ext cx="7304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 próprio grid, relativo ao espaço de fora do grid</a:t>
            </a:r>
          </a:p>
        </p:txBody>
      </p:sp>
    </p:spTree>
    <p:extLst>
      <p:ext uri="{BB962C8B-B14F-4D97-AF65-F5344CB8AC3E}">
        <p14:creationId xmlns:p14="http://schemas.microsoft.com/office/powerpoint/2010/main" val="4262204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Os Valores (CONTENT)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889186"/>
            <a:ext cx="4502372" cy="564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Space-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evenly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0021455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382328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1BFDC3-A0E8-4077-9A61-DBB7CB938E4F}"/>
              </a:ext>
            </a:extLst>
          </p:cNvPr>
          <p:cNvSpPr txBox="1"/>
          <p:nvPr/>
        </p:nvSpPr>
        <p:spPr>
          <a:xfrm>
            <a:off x="4803487" y="4129489"/>
            <a:ext cx="3157681" cy="1608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Entre colunas</a:t>
            </a: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HORIZONTAL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06EE64C-AB23-4440-A6D5-ED6BD6F9A1EC}"/>
              </a:ext>
            </a:extLst>
          </p:cNvPr>
          <p:cNvSpPr txBox="1"/>
          <p:nvPr/>
        </p:nvSpPr>
        <p:spPr>
          <a:xfrm>
            <a:off x="8442623" y="4129489"/>
            <a:ext cx="3157661" cy="1608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Entre linhas</a:t>
            </a: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VERTICAL</a:t>
            </a:r>
          </a:p>
        </p:txBody>
      </p:sp>
    </p:spTree>
    <p:extLst>
      <p:ext uri="{BB962C8B-B14F-4D97-AF65-F5344CB8AC3E}">
        <p14:creationId xmlns:p14="http://schemas.microsoft.com/office/powerpoint/2010/main" val="2154112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91FD6F-D694-4B75-B44E-979408C81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30"/>
            <a:ext cx="12192000" cy="65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897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8F84C17-9230-432C-B779-E306A2057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2"/>
            <a:ext cx="12192000" cy="65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59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vh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	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		/* </a:t>
            </a:r>
            <a:r>
              <a:rPr lang="pt-BR" sz="3600" dirty="0" err="1">
                <a:solidFill>
                  <a:srgbClr val="F6F6F4"/>
                </a:solidFill>
                <a:latin typeface="Consolas" panose="020B0609020204030204" pitchFamily="49" charset="0"/>
              </a:rPr>
              <a:t>justify-content</a:t>
            </a:r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 ; </a:t>
            </a:r>
            <a:r>
              <a:rPr lang="pt-BR" sz="3600" dirty="0" err="1">
                <a:solidFill>
                  <a:srgbClr val="F6F6F4"/>
                </a:solidFill>
                <a:latin typeface="Consolas" panose="020B0609020204030204" pitchFamily="49" charset="0"/>
              </a:rPr>
              <a:t>align-content</a:t>
            </a:r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 */	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778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HTML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10902462" cy="2416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dentro de cada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já existente;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parágrafo com texto para cada </a:t>
            </a: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nova;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756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HTML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A1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A2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A3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B3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C1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    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 err="1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E7EE98"/>
                </a:solidFill>
                <a:effectLst/>
                <a:latin typeface="Consolas" panose="020B0609020204030204" pitchFamily="49" charset="0"/>
              </a:rPr>
              <a:t>C3</a:t>
            </a:r>
            <a:r>
              <a:rPr lang="pt-BR" b="0" dirty="0">
                <a:solidFill>
                  <a:srgbClr val="DEE49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&gt;meu texto está aqui dentro!&lt;/</a:t>
            </a:r>
            <a:r>
              <a:rPr lang="pt-BR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&lt;/</a:t>
            </a:r>
            <a:r>
              <a:rPr lang="pt-BR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pt-BR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1760518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os Itens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959248" y="3258267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25320" y="4057211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F7AF07-979D-4EE7-9DDD-01F4680CDC00}"/>
              </a:ext>
            </a:extLst>
          </p:cNvPr>
          <p:cNvSpPr/>
          <p:nvPr/>
        </p:nvSpPr>
        <p:spPr>
          <a:xfrm>
            <a:off x="1987949" y="3045778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BDC2C35-4269-450C-AF48-733368D21CEE}"/>
              </a:ext>
            </a:extLst>
          </p:cNvPr>
          <p:cNvSpPr txBox="1"/>
          <p:nvPr/>
        </p:nvSpPr>
        <p:spPr>
          <a:xfrm>
            <a:off x="4545268" y="4137342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097334-CBAF-41FD-94A2-DE5359380C99}"/>
              </a:ext>
            </a:extLst>
          </p:cNvPr>
          <p:cNvSpPr txBox="1"/>
          <p:nvPr/>
        </p:nvSpPr>
        <p:spPr>
          <a:xfrm>
            <a:off x="7191486" y="4139835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1894F-EF92-401D-8A5E-0C454EB9FD52}"/>
              </a:ext>
            </a:extLst>
          </p:cNvPr>
          <p:cNvSpPr txBox="1"/>
          <p:nvPr/>
        </p:nvSpPr>
        <p:spPr>
          <a:xfrm>
            <a:off x="9837704" y="4142328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8394700" y="2473222"/>
            <a:ext cx="1626755" cy="16641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6382328" y="2473222"/>
            <a:ext cx="1815434" cy="166661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D866CED-715C-4B3A-873B-BDA2060A964C}"/>
              </a:ext>
            </a:extLst>
          </p:cNvPr>
          <p:cNvSpPr txBox="1"/>
          <p:nvPr/>
        </p:nvSpPr>
        <p:spPr>
          <a:xfrm>
            <a:off x="4545268" y="5243527"/>
            <a:ext cx="7304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 itens referente a sua própria célula.</a:t>
            </a:r>
          </a:p>
        </p:txBody>
      </p:sp>
    </p:spTree>
    <p:extLst>
      <p:ext uri="{BB962C8B-B14F-4D97-AF65-F5344CB8AC3E}">
        <p14:creationId xmlns:p14="http://schemas.microsoft.com/office/powerpoint/2010/main" val="859293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Os Valores (ITEMS)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889186"/>
            <a:ext cx="4502372" cy="3224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0021455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382328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1BFDC3-A0E8-4077-9A61-DBB7CB938E4F}"/>
              </a:ext>
            </a:extLst>
          </p:cNvPr>
          <p:cNvSpPr txBox="1"/>
          <p:nvPr/>
        </p:nvSpPr>
        <p:spPr>
          <a:xfrm>
            <a:off x="4803487" y="4129489"/>
            <a:ext cx="3157681" cy="241623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dentro da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HORIZONTAL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06EE64C-AB23-4440-A6D5-ED6BD6F9A1EC}"/>
              </a:ext>
            </a:extLst>
          </p:cNvPr>
          <p:cNvSpPr txBox="1"/>
          <p:nvPr/>
        </p:nvSpPr>
        <p:spPr>
          <a:xfrm>
            <a:off x="8442623" y="4129489"/>
            <a:ext cx="3157661" cy="241623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dentro da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VERTICAL</a:t>
            </a:r>
          </a:p>
        </p:txBody>
      </p:sp>
    </p:spTree>
    <p:extLst>
      <p:ext uri="{BB962C8B-B14F-4D97-AF65-F5344CB8AC3E}">
        <p14:creationId xmlns:p14="http://schemas.microsoft.com/office/powerpoint/2010/main" val="25558086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9442152-3481-4133-BC7B-6F6B98D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876"/>
            <a:ext cx="12192000" cy="660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136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0DF13C-3A23-4027-9893-C03D941D1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17"/>
            <a:ext cx="12192000" cy="664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828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#282A36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vw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vh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	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grid-template-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 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3600" b="0" dirty="0" err="1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fr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		/* </a:t>
            </a:r>
            <a:r>
              <a:rPr lang="pt-BR" sz="3600" dirty="0" err="1">
                <a:solidFill>
                  <a:srgbClr val="F6F6F4"/>
                </a:solidFill>
                <a:latin typeface="Consolas" panose="020B0609020204030204" pitchFamily="49" charset="0"/>
              </a:rPr>
              <a:t>justify-items</a:t>
            </a:r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 ; </a:t>
            </a:r>
            <a:r>
              <a:rPr lang="pt-BR" sz="3600" dirty="0" err="1">
                <a:solidFill>
                  <a:srgbClr val="F6F6F4"/>
                </a:solidFill>
                <a:latin typeface="Consolas" panose="020B0609020204030204" pitchFamily="49" charset="0"/>
              </a:rPr>
              <a:t>align-items</a:t>
            </a:r>
            <a:r>
              <a:rPr lang="pt-BR" sz="3600" dirty="0">
                <a:solidFill>
                  <a:srgbClr val="F6F6F4"/>
                </a:solidFill>
                <a:latin typeface="Consolas" panose="020B0609020204030204" pitchFamily="49" charset="0"/>
              </a:rPr>
              <a:t> */	</a:t>
            </a:r>
            <a:endParaRPr lang="pt-BR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F6F6F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025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os Itens em si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1447986"/>
            <a:ext cx="4502372" cy="4839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Align-content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Justify-items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chemeClr val="bg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Align-items</a:t>
            </a:r>
            <a:endParaRPr lang="pt-BR" sz="3500" dirty="0">
              <a:solidFill>
                <a:schemeClr val="bg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-self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91A7834A-2413-48E3-9F0A-49761DDF17BB}"/>
              </a:ext>
            </a:extLst>
          </p:cNvPr>
          <p:cNvSpPr/>
          <p:nvPr/>
        </p:nvSpPr>
        <p:spPr>
          <a:xfrm>
            <a:off x="964045" y="4858467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E188E7-1741-4F97-8AF1-C7B48D21ED64}"/>
              </a:ext>
            </a:extLst>
          </p:cNvPr>
          <p:cNvSpPr/>
          <p:nvPr/>
        </p:nvSpPr>
        <p:spPr>
          <a:xfrm>
            <a:off x="830117" y="5657411"/>
            <a:ext cx="1593272" cy="5842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F7AF07-979D-4EE7-9DDD-01F4680CDC00}"/>
              </a:ext>
            </a:extLst>
          </p:cNvPr>
          <p:cNvSpPr/>
          <p:nvPr/>
        </p:nvSpPr>
        <p:spPr>
          <a:xfrm>
            <a:off x="1916546" y="4645978"/>
            <a:ext cx="2092034" cy="178678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BDC2C35-4269-450C-AF48-733368D21CEE}"/>
              </a:ext>
            </a:extLst>
          </p:cNvPr>
          <p:cNvSpPr txBox="1"/>
          <p:nvPr/>
        </p:nvSpPr>
        <p:spPr>
          <a:xfrm>
            <a:off x="4545268" y="4137342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097334-CBAF-41FD-94A2-DE5359380C99}"/>
              </a:ext>
            </a:extLst>
          </p:cNvPr>
          <p:cNvSpPr txBox="1"/>
          <p:nvPr/>
        </p:nvSpPr>
        <p:spPr>
          <a:xfrm>
            <a:off x="7191486" y="4139835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B1894F-EF92-401D-8A5E-0C454EB9FD52}"/>
              </a:ext>
            </a:extLst>
          </p:cNvPr>
          <p:cNvSpPr txBox="1"/>
          <p:nvPr/>
        </p:nvSpPr>
        <p:spPr>
          <a:xfrm>
            <a:off x="9837704" y="4142328"/>
            <a:ext cx="2012551" cy="80041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self</a:t>
            </a: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0021455" y="2473222"/>
            <a:ext cx="1065645" cy="16641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6382328" y="2473222"/>
            <a:ext cx="4461652" cy="166910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D866CED-715C-4B3A-873B-BDA2060A964C}"/>
              </a:ext>
            </a:extLst>
          </p:cNvPr>
          <p:cNvSpPr txBox="1"/>
          <p:nvPr/>
        </p:nvSpPr>
        <p:spPr>
          <a:xfrm>
            <a:off x="4545268" y="5243527"/>
            <a:ext cx="7304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Alinhar o itens em si de forma individualizada.</a:t>
            </a:r>
          </a:p>
        </p:txBody>
      </p:sp>
    </p:spTree>
    <p:extLst>
      <p:ext uri="{BB962C8B-B14F-4D97-AF65-F5344CB8AC3E}">
        <p14:creationId xmlns:p14="http://schemas.microsoft.com/office/powerpoint/2010/main" val="28785260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/>
              <a:t>Os Valores (SELF)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A1345F-8C22-42F6-8E64-A96031F5AC9A}"/>
              </a:ext>
            </a:extLst>
          </p:cNvPr>
          <p:cNvSpPr txBox="1"/>
          <p:nvPr/>
        </p:nvSpPr>
        <p:spPr>
          <a:xfrm>
            <a:off x="633046" y="889186"/>
            <a:ext cx="4502372" cy="3224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5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endParaRPr lang="pt-BR" sz="35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FFD9833-779C-4888-A9BE-7098B357F72F}"/>
              </a:ext>
            </a:extLst>
          </p:cNvPr>
          <p:cNvSpPr txBox="1"/>
          <p:nvPr/>
        </p:nvSpPr>
        <p:spPr>
          <a:xfrm>
            <a:off x="5135418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justify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4B4D0E-7609-4EDB-931A-10F8A90AA14A}"/>
              </a:ext>
            </a:extLst>
          </p:cNvPr>
          <p:cNvSpPr txBox="1"/>
          <p:nvPr/>
        </p:nvSpPr>
        <p:spPr>
          <a:xfrm>
            <a:off x="8774545" y="1672810"/>
            <a:ext cx="2493819" cy="80041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align</a:t>
            </a:r>
            <a:endParaRPr lang="pt-BR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58E768C-7E75-47E1-8C01-9C01315EFD1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0021455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14782CF-BF46-4683-874D-80601F08B13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382328" y="2473222"/>
            <a:ext cx="0" cy="165142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1BFDC3-A0E8-4077-9A61-DBB7CB938E4F}"/>
              </a:ext>
            </a:extLst>
          </p:cNvPr>
          <p:cNvSpPr txBox="1"/>
          <p:nvPr/>
        </p:nvSpPr>
        <p:spPr>
          <a:xfrm>
            <a:off x="4803487" y="4129489"/>
            <a:ext cx="3157681" cy="1608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Item individual</a:t>
            </a: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HORIZONTAL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06EE64C-AB23-4440-A6D5-ED6BD6F9A1EC}"/>
              </a:ext>
            </a:extLst>
          </p:cNvPr>
          <p:cNvSpPr txBox="1"/>
          <p:nvPr/>
        </p:nvSpPr>
        <p:spPr>
          <a:xfrm>
            <a:off x="8442623" y="4129489"/>
            <a:ext cx="3157661" cy="1608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Item individual</a:t>
            </a:r>
          </a:p>
          <a:p>
            <a:pPr algn="ctr">
              <a:lnSpc>
                <a:spcPct val="150000"/>
              </a:lnSpc>
            </a:pP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VERTICAL</a:t>
            </a:r>
          </a:p>
        </p:txBody>
      </p:sp>
    </p:spTree>
    <p:extLst>
      <p:ext uri="{BB962C8B-B14F-4D97-AF65-F5344CB8AC3E}">
        <p14:creationId xmlns:p14="http://schemas.microsoft.com/office/powerpoint/2010/main" val="35997872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#A1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chartreuse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align-self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flex-end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justify-self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70086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#C3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 err="1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rebeccapurple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justify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-self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pt-BR" sz="3600" b="0" dirty="0" err="1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pt-BR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-self</a:t>
            </a:r>
            <a:r>
              <a:rPr lang="pt-BR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1408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ABEA19-8504-4EFB-9DAD-37E21892A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44"/>
            <a:ext cx="12192000" cy="662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454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6A0DF66-1D0E-4A4D-A0F4-235FBE20AEF7}"/>
              </a:ext>
            </a:extLst>
          </p:cNvPr>
          <p:cNvSpPr txBox="1"/>
          <p:nvPr/>
        </p:nvSpPr>
        <p:spPr>
          <a:xfrm>
            <a:off x="2581563" y="191122"/>
            <a:ext cx="70288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200" dirty="0" err="1"/>
              <a:t>Code</a:t>
            </a:r>
            <a:r>
              <a:rPr lang="pt-BR" sz="4200" dirty="0"/>
              <a:t> - CSS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C2D6276-34B5-4E0B-BC7F-BE8E0B57D882}"/>
              </a:ext>
            </a:extLst>
          </p:cNvPr>
          <p:cNvSpPr txBox="1"/>
          <p:nvPr/>
        </p:nvSpPr>
        <p:spPr>
          <a:xfrm>
            <a:off x="88900" y="1166842"/>
            <a:ext cx="11976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1" dirty="0">
                <a:solidFill>
                  <a:srgbClr val="62E884"/>
                </a:solidFill>
                <a:effectLst/>
                <a:latin typeface="Consolas" panose="020B0609020204030204" pitchFamily="49" charset="0"/>
              </a:rPr>
              <a:t>.B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justify-self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3600" b="0" dirty="0">
                <a:solidFill>
                  <a:srgbClr val="97E1F1"/>
                </a:solidFill>
                <a:effectLst/>
                <a:latin typeface="Consolas" panose="020B0609020204030204" pitchFamily="49" charset="0"/>
              </a:rPr>
              <a:t>align-self</a:t>
            </a:r>
            <a:r>
              <a:rPr lang="en-US" sz="3600" b="0" dirty="0">
                <a:solidFill>
                  <a:srgbClr val="F286C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600" b="0" dirty="0">
                <a:solidFill>
                  <a:srgbClr val="BF9EE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3600" b="0" dirty="0">
                <a:solidFill>
                  <a:srgbClr val="F6F6F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00755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9A6110-4C7B-4F39-A24B-6CAB01E6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942"/>
            <a:ext cx="12192000" cy="659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92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670</TotalTime>
  <Words>586</Words>
  <Application>Microsoft Office PowerPoint</Application>
  <PresentationFormat>Widescreen</PresentationFormat>
  <Paragraphs>414</Paragraphs>
  <Slides>64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70" baseType="lpstr">
      <vt:lpstr>Arial</vt:lpstr>
      <vt:lpstr>Calisto MT</vt:lpstr>
      <vt:lpstr>Consolas</vt:lpstr>
      <vt:lpstr>Trebuchet MS</vt:lpstr>
      <vt:lpstr>Wingdings 2</vt:lpstr>
      <vt:lpstr>Ardósia</vt:lpstr>
      <vt:lpstr>Grid Layout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Patrick Vinicius</dc:creator>
  <cp:lastModifiedBy>Micro</cp:lastModifiedBy>
  <cp:revision>67</cp:revision>
  <dcterms:created xsi:type="dcterms:W3CDTF">2021-08-11T23:38:48Z</dcterms:created>
  <dcterms:modified xsi:type="dcterms:W3CDTF">2022-08-26T01:40:50Z</dcterms:modified>
</cp:coreProperties>
</file>